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7" r:id="rId11"/>
    <p:sldId id="266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99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00" autoAdjust="0"/>
    <p:restoredTop sz="94649"/>
  </p:normalViewPr>
  <p:slideViewPr>
    <p:cSldViewPr snapToGrid="0">
      <p:cViewPr varScale="1">
        <p:scale>
          <a:sx n="78" d="100"/>
          <a:sy n="78" d="100"/>
        </p:scale>
        <p:origin x="41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0BF748-5F95-405F-90C6-4079716197F4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22A217C-BAFF-43E6-A0CB-35139899412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2400" b="0" i="0" dirty="0"/>
            <a:t>Une approche complète en Python avec déploiement via GitHub, utilisant l'API </a:t>
          </a:r>
          <a:r>
            <a:rPr lang="fr-FR" sz="2400" b="0" i="0" dirty="0" err="1"/>
            <a:t>Groq</a:t>
          </a:r>
          <a:r>
            <a:rPr lang="fr-FR" sz="2400" b="0" i="0" dirty="0"/>
            <a:t> et un </a:t>
          </a:r>
          <a:r>
            <a:rPr lang="fr-FR" sz="2400" b="0" i="0" dirty="0" err="1"/>
            <a:t>scraping</a:t>
          </a:r>
          <a:r>
            <a:rPr lang="fr-FR" sz="2400" b="0" i="0" dirty="0"/>
            <a:t> manuel du site de </a:t>
          </a:r>
          <a:r>
            <a:rPr lang="fr-FR" sz="2400" b="0" i="0" dirty="0" err="1"/>
            <a:t>SeaTech</a:t>
          </a:r>
          <a:endParaRPr lang="en-US" sz="2400" dirty="0"/>
        </a:p>
      </dgm:t>
    </dgm:pt>
    <dgm:pt modelId="{9D006B5B-A634-4423-8F3B-C8A213438288}" type="parTrans" cxnId="{9DAA23E6-D962-4863-B231-590CA22F72D6}">
      <dgm:prSet/>
      <dgm:spPr/>
      <dgm:t>
        <a:bodyPr/>
        <a:lstStyle/>
        <a:p>
          <a:endParaRPr lang="en-US"/>
        </a:p>
      </dgm:t>
    </dgm:pt>
    <dgm:pt modelId="{7CEE64CB-95A2-4412-9822-6A835FAFBE2B}" type="sibTrans" cxnId="{9DAA23E6-D962-4863-B231-590CA22F72D6}">
      <dgm:prSet/>
      <dgm:spPr/>
      <dgm:t>
        <a:bodyPr/>
        <a:lstStyle/>
        <a:p>
          <a:endParaRPr lang="en-US"/>
        </a:p>
      </dgm:t>
    </dgm:pt>
    <dgm:pt modelId="{8ACF2283-3A23-4E78-A313-A86981F2A6F1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0" i="0" dirty="0"/>
            <a:t>Une approche simplifiée avec </a:t>
          </a:r>
          <a:r>
            <a:rPr lang="fr-FR" b="0" i="0" dirty="0" err="1"/>
            <a:t>Streamlit</a:t>
          </a:r>
          <a:r>
            <a:rPr lang="fr-FR" b="0" i="0" dirty="0"/>
            <a:t> et </a:t>
          </a:r>
          <a:r>
            <a:rPr lang="fr-FR" b="0" i="0" dirty="0" err="1"/>
            <a:t>Firecrawl</a:t>
          </a:r>
          <a:r>
            <a:rPr lang="fr-FR" b="0" i="0" dirty="0"/>
            <a:t>, utilisant également l'API </a:t>
          </a:r>
          <a:r>
            <a:rPr lang="fr-FR" b="0" i="0" dirty="0" err="1"/>
            <a:t>Groq</a:t>
          </a:r>
          <a:r>
            <a:rPr lang="fr-FR" b="0" i="0" dirty="0"/>
            <a:t> mais avec un </a:t>
          </a:r>
          <a:r>
            <a:rPr lang="fr-FR" b="0" i="0" dirty="0" err="1"/>
            <a:t>scraping</a:t>
          </a:r>
          <a:r>
            <a:rPr lang="fr-FR" b="0" i="0" dirty="0"/>
            <a:t> automatisé et un déploiement optimisé</a:t>
          </a:r>
          <a:endParaRPr lang="en-US" dirty="0"/>
        </a:p>
      </dgm:t>
    </dgm:pt>
    <dgm:pt modelId="{20C455B0-F481-4399-A652-45CADCA95AFA}" type="parTrans" cxnId="{9F845817-0D42-48B8-99E5-8FDD292E48FD}">
      <dgm:prSet/>
      <dgm:spPr/>
      <dgm:t>
        <a:bodyPr/>
        <a:lstStyle/>
        <a:p>
          <a:endParaRPr lang="en-US"/>
        </a:p>
      </dgm:t>
    </dgm:pt>
    <dgm:pt modelId="{DC38CFFE-8B92-4915-8A5B-3C0530CAB704}" type="sibTrans" cxnId="{9F845817-0D42-48B8-99E5-8FDD292E48FD}">
      <dgm:prSet/>
      <dgm:spPr/>
      <dgm:t>
        <a:bodyPr/>
        <a:lstStyle/>
        <a:p>
          <a:endParaRPr lang="en-US"/>
        </a:p>
      </dgm:t>
    </dgm:pt>
    <dgm:pt modelId="{4B9460C6-1F79-48A9-9EFA-9C6A1F0010AA}" type="pres">
      <dgm:prSet presAssocID="{950BF748-5F95-405F-90C6-4079716197F4}" presName="root" presStyleCnt="0">
        <dgm:presLayoutVars>
          <dgm:dir/>
          <dgm:resizeHandles val="exact"/>
        </dgm:presLayoutVars>
      </dgm:prSet>
      <dgm:spPr/>
    </dgm:pt>
    <dgm:pt modelId="{50B75A3F-5BB3-49D5-9D62-132EC39D8DB4}" type="pres">
      <dgm:prSet presAssocID="{A22A217C-BAFF-43E6-A0CB-351398994128}" presName="compNode" presStyleCnt="0"/>
      <dgm:spPr/>
    </dgm:pt>
    <dgm:pt modelId="{830E57BD-784B-4D89-A80C-83702D1C3CA1}" type="pres">
      <dgm:prSet presAssocID="{A22A217C-BAFF-43E6-A0CB-351398994128}" presName="iconRect" presStyleLbl="node1" presStyleIdx="0" presStyleCnt="2"/>
      <dgm:spPr>
        <a:blipFill rotWithShape="1"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9D2A513E-C081-44AA-A4EB-25294C9C3475}" type="pres">
      <dgm:prSet presAssocID="{A22A217C-BAFF-43E6-A0CB-351398994128}" presName="spaceRect" presStyleCnt="0"/>
      <dgm:spPr/>
    </dgm:pt>
    <dgm:pt modelId="{9012D6E0-94C8-48AC-B255-4D31F95F3460}" type="pres">
      <dgm:prSet presAssocID="{A22A217C-BAFF-43E6-A0CB-351398994128}" presName="textRect" presStyleLbl="revTx" presStyleIdx="0" presStyleCnt="2">
        <dgm:presLayoutVars>
          <dgm:chMax val="1"/>
          <dgm:chPref val="1"/>
        </dgm:presLayoutVars>
      </dgm:prSet>
      <dgm:spPr/>
    </dgm:pt>
    <dgm:pt modelId="{6DCCAA5F-8073-46F9-9784-A933A75BC2CA}" type="pres">
      <dgm:prSet presAssocID="{7CEE64CB-95A2-4412-9822-6A835FAFBE2B}" presName="sibTrans" presStyleCnt="0"/>
      <dgm:spPr/>
    </dgm:pt>
    <dgm:pt modelId="{C892BFB8-C05A-444A-8A6F-C1852DC727C4}" type="pres">
      <dgm:prSet presAssocID="{8ACF2283-3A23-4E78-A313-A86981F2A6F1}" presName="compNode" presStyleCnt="0"/>
      <dgm:spPr/>
    </dgm:pt>
    <dgm:pt modelId="{95A43AC7-A843-4503-9AAA-0D0DD01653EF}" type="pres">
      <dgm:prSet presAssocID="{8ACF2283-3A23-4E78-A313-A86981F2A6F1}" presName="iconRect" presStyleLbl="node1" presStyleIdx="1" presStyleCnt="2"/>
      <dgm:spPr>
        <a:blipFill rotWithShape="1">
          <a:blip xmlns:r="http://schemas.openxmlformats.org/officeDocument/2006/relationships" r:embed="rId2"/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agramme de flux"/>
        </a:ext>
      </dgm:extLst>
    </dgm:pt>
    <dgm:pt modelId="{DD1FC69E-365A-4820-B4A6-F27D9C8FFEE0}" type="pres">
      <dgm:prSet presAssocID="{8ACF2283-3A23-4E78-A313-A86981F2A6F1}" presName="spaceRect" presStyleCnt="0"/>
      <dgm:spPr/>
    </dgm:pt>
    <dgm:pt modelId="{3F8706D2-DC65-4045-84C7-F438CD5F8BB5}" type="pres">
      <dgm:prSet presAssocID="{8ACF2283-3A23-4E78-A313-A86981F2A6F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F845817-0D42-48B8-99E5-8FDD292E48FD}" srcId="{950BF748-5F95-405F-90C6-4079716197F4}" destId="{8ACF2283-3A23-4E78-A313-A86981F2A6F1}" srcOrd="1" destOrd="0" parTransId="{20C455B0-F481-4399-A652-45CADCA95AFA}" sibTransId="{DC38CFFE-8B92-4915-8A5B-3C0530CAB704}"/>
    <dgm:cxn modelId="{60263C8A-117C-48BE-8E4F-ECD89C84189C}" type="presOf" srcId="{A22A217C-BAFF-43E6-A0CB-351398994128}" destId="{9012D6E0-94C8-48AC-B255-4D31F95F3460}" srcOrd="0" destOrd="0" presId="urn:microsoft.com/office/officeart/2018/2/layout/IconLabelList"/>
    <dgm:cxn modelId="{E63D36BD-4FBE-449A-8FAF-FEF228B14736}" type="presOf" srcId="{8ACF2283-3A23-4E78-A313-A86981F2A6F1}" destId="{3F8706D2-DC65-4045-84C7-F438CD5F8BB5}" srcOrd="0" destOrd="0" presId="urn:microsoft.com/office/officeart/2018/2/layout/IconLabelList"/>
    <dgm:cxn modelId="{9DAA23E6-D962-4863-B231-590CA22F72D6}" srcId="{950BF748-5F95-405F-90C6-4079716197F4}" destId="{A22A217C-BAFF-43E6-A0CB-351398994128}" srcOrd="0" destOrd="0" parTransId="{9D006B5B-A634-4423-8F3B-C8A213438288}" sibTransId="{7CEE64CB-95A2-4412-9822-6A835FAFBE2B}"/>
    <dgm:cxn modelId="{7E92DAF5-9A5F-4469-86A5-295A4E62DD5B}" type="presOf" srcId="{950BF748-5F95-405F-90C6-4079716197F4}" destId="{4B9460C6-1F79-48A9-9EFA-9C6A1F0010AA}" srcOrd="0" destOrd="0" presId="urn:microsoft.com/office/officeart/2018/2/layout/IconLabelList"/>
    <dgm:cxn modelId="{C7B6CD14-0E55-4549-86DB-AE9452DAD244}" type="presParOf" srcId="{4B9460C6-1F79-48A9-9EFA-9C6A1F0010AA}" destId="{50B75A3F-5BB3-49D5-9D62-132EC39D8DB4}" srcOrd="0" destOrd="0" presId="urn:microsoft.com/office/officeart/2018/2/layout/IconLabelList"/>
    <dgm:cxn modelId="{CA241CFD-9AE9-431D-9B11-971283629A39}" type="presParOf" srcId="{50B75A3F-5BB3-49D5-9D62-132EC39D8DB4}" destId="{830E57BD-784B-4D89-A80C-83702D1C3CA1}" srcOrd="0" destOrd="0" presId="urn:microsoft.com/office/officeart/2018/2/layout/IconLabelList"/>
    <dgm:cxn modelId="{25AE0DAE-B278-4BDA-9A70-88E7AEF95500}" type="presParOf" srcId="{50B75A3F-5BB3-49D5-9D62-132EC39D8DB4}" destId="{9D2A513E-C081-44AA-A4EB-25294C9C3475}" srcOrd="1" destOrd="0" presId="urn:microsoft.com/office/officeart/2018/2/layout/IconLabelList"/>
    <dgm:cxn modelId="{9D07011B-0A4D-4C2B-9224-9465A643C2B7}" type="presParOf" srcId="{50B75A3F-5BB3-49D5-9D62-132EC39D8DB4}" destId="{9012D6E0-94C8-48AC-B255-4D31F95F3460}" srcOrd="2" destOrd="0" presId="urn:microsoft.com/office/officeart/2018/2/layout/IconLabelList"/>
    <dgm:cxn modelId="{944362D4-96ED-4CDA-A110-2267CB675824}" type="presParOf" srcId="{4B9460C6-1F79-48A9-9EFA-9C6A1F0010AA}" destId="{6DCCAA5F-8073-46F9-9784-A933A75BC2CA}" srcOrd="1" destOrd="0" presId="urn:microsoft.com/office/officeart/2018/2/layout/IconLabelList"/>
    <dgm:cxn modelId="{3BFAED82-307D-42C8-BA8D-4B44B2BC6802}" type="presParOf" srcId="{4B9460C6-1F79-48A9-9EFA-9C6A1F0010AA}" destId="{C892BFB8-C05A-444A-8A6F-C1852DC727C4}" srcOrd="2" destOrd="0" presId="urn:microsoft.com/office/officeart/2018/2/layout/IconLabelList"/>
    <dgm:cxn modelId="{5F54EF3F-4BF2-46AD-B396-4970C421F0F9}" type="presParOf" srcId="{C892BFB8-C05A-444A-8A6F-C1852DC727C4}" destId="{95A43AC7-A843-4503-9AAA-0D0DD01653EF}" srcOrd="0" destOrd="0" presId="urn:microsoft.com/office/officeart/2018/2/layout/IconLabelList"/>
    <dgm:cxn modelId="{EB757BBE-0EC5-42D3-ACA3-27009E3F8044}" type="presParOf" srcId="{C892BFB8-C05A-444A-8A6F-C1852DC727C4}" destId="{DD1FC69E-365A-4820-B4A6-F27D9C8FFEE0}" srcOrd="1" destOrd="0" presId="urn:microsoft.com/office/officeart/2018/2/layout/IconLabelList"/>
    <dgm:cxn modelId="{83D8A1F4-8280-4AFA-8625-3C921CF9B152}" type="presParOf" srcId="{C892BFB8-C05A-444A-8A6F-C1852DC727C4}" destId="{3F8706D2-DC65-4045-84C7-F438CD5F8BB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50BF748-5F95-405F-90C6-4079716197F4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22A217C-BAFF-43E6-A0CB-35139899412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2000" b="1" dirty="0"/>
            <a:t>Interface Utilisateur Réactive</a:t>
          </a:r>
        </a:p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fr-FR" sz="1800" dirty="0"/>
            <a:t>Composants interactifs : champs texte, </a:t>
          </a:r>
          <a:r>
            <a:rPr lang="fr-FR" sz="1800" dirty="0" err="1"/>
            <a:t>markdown</a:t>
          </a:r>
          <a:r>
            <a:rPr lang="fr-FR" sz="1800" dirty="0"/>
            <a:t>, boutons, onglets, indicateurs de chargement</a:t>
          </a:r>
        </a:p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fr-FR" sz="1800" dirty="0"/>
            <a:t>Amélioration UX : sources visibles, indicateurs confiance, responsive design</a:t>
          </a:r>
          <a:endParaRPr lang="en-US" sz="1800" dirty="0"/>
        </a:p>
      </dgm:t>
    </dgm:pt>
    <dgm:pt modelId="{9D006B5B-A634-4423-8F3B-C8A213438288}" type="parTrans" cxnId="{9DAA23E6-D962-4863-B231-590CA22F72D6}">
      <dgm:prSet/>
      <dgm:spPr/>
      <dgm:t>
        <a:bodyPr/>
        <a:lstStyle/>
        <a:p>
          <a:endParaRPr lang="en-US"/>
        </a:p>
      </dgm:t>
    </dgm:pt>
    <dgm:pt modelId="{7CEE64CB-95A2-4412-9822-6A835FAFBE2B}" type="sibTrans" cxnId="{9DAA23E6-D962-4863-B231-590CA22F72D6}">
      <dgm:prSet/>
      <dgm:spPr/>
      <dgm:t>
        <a:bodyPr/>
        <a:lstStyle/>
        <a:p>
          <a:endParaRPr lang="en-US"/>
        </a:p>
      </dgm:t>
    </dgm:pt>
    <dgm:pt modelId="{8ACF2283-3A23-4E78-A313-A86981F2A6F1}">
      <dgm:prSet custT="1"/>
      <dgm:spPr/>
      <dgm:t>
        <a:bodyPr/>
        <a:lstStyle/>
        <a:p>
          <a:pPr algn="ctr"/>
          <a:r>
            <a:rPr lang="fr-FR" sz="2000" b="1" dirty="0"/>
            <a:t>Extraction automatique des données</a:t>
          </a:r>
          <a:r>
            <a:rPr lang="fr-FR" sz="2000" dirty="0"/>
            <a:t> </a:t>
          </a:r>
        </a:p>
        <a:p>
          <a:pPr algn="ctr">
            <a:buFont typeface="Arial" panose="020B0604020202020204" pitchFamily="34" charset="0"/>
            <a:buChar char="•"/>
          </a:pPr>
          <a:r>
            <a:rPr lang="fr-FR" sz="1800" dirty="0"/>
            <a:t>Configuration déclarative : URLs, navigation, extraction</a:t>
          </a:r>
        </a:p>
        <a:p>
          <a:pPr algn="ctr">
            <a:buFont typeface="Arial" panose="020B0604020202020204" pitchFamily="34" charset="0"/>
            <a:buChar char="•"/>
          </a:pPr>
          <a:r>
            <a:rPr lang="fr-FR" sz="1800" dirty="0"/>
            <a:t>Prétraitement intégré pour nettoyage des données</a:t>
          </a:r>
          <a:endParaRPr lang="en-US" sz="1800" dirty="0"/>
        </a:p>
      </dgm:t>
    </dgm:pt>
    <dgm:pt modelId="{20C455B0-F481-4399-A652-45CADCA95AFA}" type="parTrans" cxnId="{9F845817-0D42-48B8-99E5-8FDD292E48FD}">
      <dgm:prSet/>
      <dgm:spPr/>
      <dgm:t>
        <a:bodyPr/>
        <a:lstStyle/>
        <a:p>
          <a:endParaRPr lang="en-US"/>
        </a:p>
      </dgm:t>
    </dgm:pt>
    <dgm:pt modelId="{DC38CFFE-8B92-4915-8A5B-3C0530CAB704}" type="sibTrans" cxnId="{9F845817-0D42-48B8-99E5-8FDD292E48FD}">
      <dgm:prSet/>
      <dgm:spPr/>
      <dgm:t>
        <a:bodyPr/>
        <a:lstStyle/>
        <a:p>
          <a:endParaRPr lang="en-US"/>
        </a:p>
      </dgm:t>
    </dgm:pt>
    <dgm:pt modelId="{4B9460C6-1F79-48A9-9EFA-9C6A1F0010AA}" type="pres">
      <dgm:prSet presAssocID="{950BF748-5F95-405F-90C6-4079716197F4}" presName="root" presStyleCnt="0">
        <dgm:presLayoutVars>
          <dgm:dir/>
          <dgm:resizeHandles val="exact"/>
        </dgm:presLayoutVars>
      </dgm:prSet>
      <dgm:spPr/>
    </dgm:pt>
    <dgm:pt modelId="{50B75A3F-5BB3-49D5-9D62-132EC39D8DB4}" type="pres">
      <dgm:prSet presAssocID="{A22A217C-BAFF-43E6-A0CB-351398994128}" presName="compNode" presStyleCnt="0"/>
      <dgm:spPr/>
    </dgm:pt>
    <dgm:pt modelId="{830E57BD-784B-4D89-A80C-83702D1C3CA1}" type="pres">
      <dgm:prSet presAssocID="{A22A217C-BAFF-43E6-A0CB-35139899412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9D2A513E-C081-44AA-A4EB-25294C9C3475}" type="pres">
      <dgm:prSet presAssocID="{A22A217C-BAFF-43E6-A0CB-351398994128}" presName="spaceRect" presStyleCnt="0"/>
      <dgm:spPr/>
    </dgm:pt>
    <dgm:pt modelId="{9012D6E0-94C8-48AC-B255-4D31F95F3460}" type="pres">
      <dgm:prSet presAssocID="{A22A217C-BAFF-43E6-A0CB-351398994128}" presName="textRect" presStyleLbl="revTx" presStyleIdx="0" presStyleCnt="2">
        <dgm:presLayoutVars>
          <dgm:chMax val="1"/>
          <dgm:chPref val="1"/>
        </dgm:presLayoutVars>
      </dgm:prSet>
      <dgm:spPr/>
    </dgm:pt>
    <dgm:pt modelId="{6DCCAA5F-8073-46F9-9784-A933A75BC2CA}" type="pres">
      <dgm:prSet presAssocID="{7CEE64CB-95A2-4412-9822-6A835FAFBE2B}" presName="sibTrans" presStyleCnt="0"/>
      <dgm:spPr/>
    </dgm:pt>
    <dgm:pt modelId="{C892BFB8-C05A-444A-8A6F-C1852DC727C4}" type="pres">
      <dgm:prSet presAssocID="{8ACF2283-3A23-4E78-A313-A86981F2A6F1}" presName="compNode" presStyleCnt="0"/>
      <dgm:spPr/>
    </dgm:pt>
    <dgm:pt modelId="{95A43AC7-A843-4503-9AAA-0D0DD01653EF}" type="pres">
      <dgm:prSet presAssocID="{8ACF2283-3A23-4E78-A313-A86981F2A6F1}" presName="iconRect" presStyleLbl="node1" presStyleIdx="1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DD1FC69E-365A-4820-B4A6-F27D9C8FFEE0}" type="pres">
      <dgm:prSet presAssocID="{8ACF2283-3A23-4E78-A313-A86981F2A6F1}" presName="spaceRect" presStyleCnt="0"/>
      <dgm:spPr/>
    </dgm:pt>
    <dgm:pt modelId="{3F8706D2-DC65-4045-84C7-F438CD5F8BB5}" type="pres">
      <dgm:prSet presAssocID="{8ACF2283-3A23-4E78-A313-A86981F2A6F1}" presName="textRect" presStyleLbl="revTx" presStyleIdx="1" presStyleCnt="2" custScaleY="98051">
        <dgm:presLayoutVars>
          <dgm:chMax val="1"/>
          <dgm:chPref val="1"/>
        </dgm:presLayoutVars>
      </dgm:prSet>
      <dgm:spPr/>
    </dgm:pt>
  </dgm:ptLst>
  <dgm:cxnLst>
    <dgm:cxn modelId="{9F845817-0D42-48B8-99E5-8FDD292E48FD}" srcId="{950BF748-5F95-405F-90C6-4079716197F4}" destId="{8ACF2283-3A23-4E78-A313-A86981F2A6F1}" srcOrd="1" destOrd="0" parTransId="{20C455B0-F481-4399-A652-45CADCA95AFA}" sibTransId="{DC38CFFE-8B92-4915-8A5B-3C0530CAB704}"/>
    <dgm:cxn modelId="{60263C8A-117C-48BE-8E4F-ECD89C84189C}" type="presOf" srcId="{A22A217C-BAFF-43E6-A0CB-351398994128}" destId="{9012D6E0-94C8-48AC-B255-4D31F95F3460}" srcOrd="0" destOrd="0" presId="urn:microsoft.com/office/officeart/2018/2/layout/IconLabelList"/>
    <dgm:cxn modelId="{E63D36BD-4FBE-449A-8FAF-FEF228B14736}" type="presOf" srcId="{8ACF2283-3A23-4E78-A313-A86981F2A6F1}" destId="{3F8706D2-DC65-4045-84C7-F438CD5F8BB5}" srcOrd="0" destOrd="0" presId="urn:microsoft.com/office/officeart/2018/2/layout/IconLabelList"/>
    <dgm:cxn modelId="{9DAA23E6-D962-4863-B231-590CA22F72D6}" srcId="{950BF748-5F95-405F-90C6-4079716197F4}" destId="{A22A217C-BAFF-43E6-A0CB-351398994128}" srcOrd="0" destOrd="0" parTransId="{9D006B5B-A634-4423-8F3B-C8A213438288}" sibTransId="{7CEE64CB-95A2-4412-9822-6A835FAFBE2B}"/>
    <dgm:cxn modelId="{7E92DAF5-9A5F-4469-86A5-295A4E62DD5B}" type="presOf" srcId="{950BF748-5F95-405F-90C6-4079716197F4}" destId="{4B9460C6-1F79-48A9-9EFA-9C6A1F0010AA}" srcOrd="0" destOrd="0" presId="urn:microsoft.com/office/officeart/2018/2/layout/IconLabelList"/>
    <dgm:cxn modelId="{C7B6CD14-0E55-4549-86DB-AE9452DAD244}" type="presParOf" srcId="{4B9460C6-1F79-48A9-9EFA-9C6A1F0010AA}" destId="{50B75A3F-5BB3-49D5-9D62-132EC39D8DB4}" srcOrd="0" destOrd="0" presId="urn:microsoft.com/office/officeart/2018/2/layout/IconLabelList"/>
    <dgm:cxn modelId="{CA241CFD-9AE9-431D-9B11-971283629A39}" type="presParOf" srcId="{50B75A3F-5BB3-49D5-9D62-132EC39D8DB4}" destId="{830E57BD-784B-4D89-A80C-83702D1C3CA1}" srcOrd="0" destOrd="0" presId="urn:microsoft.com/office/officeart/2018/2/layout/IconLabelList"/>
    <dgm:cxn modelId="{25AE0DAE-B278-4BDA-9A70-88E7AEF95500}" type="presParOf" srcId="{50B75A3F-5BB3-49D5-9D62-132EC39D8DB4}" destId="{9D2A513E-C081-44AA-A4EB-25294C9C3475}" srcOrd="1" destOrd="0" presId="urn:microsoft.com/office/officeart/2018/2/layout/IconLabelList"/>
    <dgm:cxn modelId="{9D07011B-0A4D-4C2B-9224-9465A643C2B7}" type="presParOf" srcId="{50B75A3F-5BB3-49D5-9D62-132EC39D8DB4}" destId="{9012D6E0-94C8-48AC-B255-4D31F95F3460}" srcOrd="2" destOrd="0" presId="urn:microsoft.com/office/officeart/2018/2/layout/IconLabelList"/>
    <dgm:cxn modelId="{944362D4-96ED-4CDA-A110-2267CB675824}" type="presParOf" srcId="{4B9460C6-1F79-48A9-9EFA-9C6A1F0010AA}" destId="{6DCCAA5F-8073-46F9-9784-A933A75BC2CA}" srcOrd="1" destOrd="0" presId="urn:microsoft.com/office/officeart/2018/2/layout/IconLabelList"/>
    <dgm:cxn modelId="{3BFAED82-307D-42C8-BA8D-4B44B2BC6802}" type="presParOf" srcId="{4B9460C6-1F79-48A9-9EFA-9C6A1F0010AA}" destId="{C892BFB8-C05A-444A-8A6F-C1852DC727C4}" srcOrd="2" destOrd="0" presId="urn:microsoft.com/office/officeart/2018/2/layout/IconLabelList"/>
    <dgm:cxn modelId="{5F54EF3F-4BF2-46AD-B396-4970C421F0F9}" type="presParOf" srcId="{C892BFB8-C05A-444A-8A6F-C1852DC727C4}" destId="{95A43AC7-A843-4503-9AAA-0D0DD01653EF}" srcOrd="0" destOrd="0" presId="urn:microsoft.com/office/officeart/2018/2/layout/IconLabelList"/>
    <dgm:cxn modelId="{EB757BBE-0EC5-42D3-ACA3-27009E3F8044}" type="presParOf" srcId="{C892BFB8-C05A-444A-8A6F-C1852DC727C4}" destId="{DD1FC69E-365A-4820-B4A6-F27D9C8FFEE0}" srcOrd="1" destOrd="0" presId="urn:microsoft.com/office/officeart/2018/2/layout/IconLabelList"/>
    <dgm:cxn modelId="{83D8A1F4-8280-4AFA-8625-3C921CF9B152}" type="presParOf" srcId="{C892BFB8-C05A-444A-8A6F-C1852DC727C4}" destId="{3F8706D2-DC65-4045-84C7-F438CD5F8BB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0E57BD-784B-4D89-A80C-83702D1C3CA1}">
      <dsp:nvSpPr>
        <dsp:cNvPr id="0" name=""/>
        <dsp:cNvSpPr/>
      </dsp:nvSpPr>
      <dsp:spPr>
        <a:xfrm>
          <a:off x="1900200" y="362425"/>
          <a:ext cx="1944000" cy="1944000"/>
        </a:xfrm>
        <a:prstGeom prst="rect">
          <a:avLst/>
        </a:prstGeom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12D6E0-94C8-48AC-B255-4D31F95F3460}">
      <dsp:nvSpPr>
        <dsp:cNvPr id="0" name=""/>
        <dsp:cNvSpPr/>
      </dsp:nvSpPr>
      <dsp:spPr>
        <a:xfrm>
          <a:off x="712199" y="2983166"/>
          <a:ext cx="4320000" cy="189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0" i="0" kern="1200" dirty="0"/>
            <a:t>Une approche complète en Python avec déploiement via GitHub, utilisant l'API </a:t>
          </a:r>
          <a:r>
            <a:rPr lang="fr-FR" sz="2400" b="0" i="0" kern="1200" dirty="0" err="1"/>
            <a:t>Groq</a:t>
          </a:r>
          <a:r>
            <a:rPr lang="fr-FR" sz="2400" b="0" i="0" kern="1200" dirty="0"/>
            <a:t> et un </a:t>
          </a:r>
          <a:r>
            <a:rPr lang="fr-FR" sz="2400" b="0" i="0" kern="1200" dirty="0" err="1"/>
            <a:t>scraping</a:t>
          </a:r>
          <a:r>
            <a:rPr lang="fr-FR" sz="2400" b="0" i="0" kern="1200" dirty="0"/>
            <a:t> manuel du site de </a:t>
          </a:r>
          <a:r>
            <a:rPr lang="fr-FR" sz="2400" b="0" i="0" kern="1200" dirty="0" err="1"/>
            <a:t>SeaTech</a:t>
          </a:r>
          <a:endParaRPr lang="en-US" sz="2400" kern="1200" dirty="0"/>
        </a:p>
      </dsp:txBody>
      <dsp:txXfrm>
        <a:off x="712199" y="2983166"/>
        <a:ext cx="4320000" cy="1890000"/>
      </dsp:txXfrm>
    </dsp:sp>
    <dsp:sp modelId="{95A43AC7-A843-4503-9AAA-0D0DD01653EF}">
      <dsp:nvSpPr>
        <dsp:cNvPr id="0" name=""/>
        <dsp:cNvSpPr/>
      </dsp:nvSpPr>
      <dsp:spPr>
        <a:xfrm>
          <a:off x="6976200" y="362425"/>
          <a:ext cx="1944000" cy="1944000"/>
        </a:xfrm>
        <a:prstGeom prst="rect">
          <a:avLst/>
        </a:prstGeom>
        <a:blipFill rotWithShape="1">
          <a:blip xmlns:r="http://schemas.openxmlformats.org/officeDocument/2006/relationships" r:embed="rId2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706D2-DC65-4045-84C7-F438CD5F8BB5}">
      <dsp:nvSpPr>
        <dsp:cNvPr id="0" name=""/>
        <dsp:cNvSpPr/>
      </dsp:nvSpPr>
      <dsp:spPr>
        <a:xfrm>
          <a:off x="5788200" y="2983166"/>
          <a:ext cx="4320000" cy="189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0" i="0" kern="1200" dirty="0"/>
            <a:t>Une approche simplifiée avec </a:t>
          </a:r>
          <a:r>
            <a:rPr lang="fr-FR" sz="2400" b="0" i="0" kern="1200" dirty="0" err="1"/>
            <a:t>Streamlit</a:t>
          </a:r>
          <a:r>
            <a:rPr lang="fr-FR" sz="2400" b="0" i="0" kern="1200" dirty="0"/>
            <a:t> et </a:t>
          </a:r>
          <a:r>
            <a:rPr lang="fr-FR" sz="2400" b="0" i="0" kern="1200" dirty="0" err="1"/>
            <a:t>Firecrawl</a:t>
          </a:r>
          <a:r>
            <a:rPr lang="fr-FR" sz="2400" b="0" i="0" kern="1200" dirty="0"/>
            <a:t>, utilisant également l'API </a:t>
          </a:r>
          <a:r>
            <a:rPr lang="fr-FR" sz="2400" b="0" i="0" kern="1200" dirty="0" err="1"/>
            <a:t>Groq</a:t>
          </a:r>
          <a:r>
            <a:rPr lang="fr-FR" sz="2400" b="0" i="0" kern="1200" dirty="0"/>
            <a:t> mais avec un </a:t>
          </a:r>
          <a:r>
            <a:rPr lang="fr-FR" sz="2400" b="0" i="0" kern="1200" dirty="0" err="1"/>
            <a:t>scraping</a:t>
          </a:r>
          <a:r>
            <a:rPr lang="fr-FR" sz="2400" b="0" i="0" kern="1200" dirty="0"/>
            <a:t> automatisé et un déploiement optimisé</a:t>
          </a:r>
          <a:endParaRPr lang="en-US" sz="2400" kern="1200" dirty="0"/>
        </a:p>
      </dsp:txBody>
      <dsp:txXfrm>
        <a:off x="5788200" y="2983166"/>
        <a:ext cx="4320000" cy="189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0E57BD-784B-4D89-A80C-83702D1C3CA1}">
      <dsp:nvSpPr>
        <dsp:cNvPr id="0" name=""/>
        <dsp:cNvSpPr/>
      </dsp:nvSpPr>
      <dsp:spPr>
        <a:xfrm>
          <a:off x="1964184" y="372512"/>
          <a:ext cx="1908562" cy="1908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12D6E0-94C8-48AC-B255-4D31F95F3460}">
      <dsp:nvSpPr>
        <dsp:cNvPr id="0" name=""/>
        <dsp:cNvSpPr/>
      </dsp:nvSpPr>
      <dsp:spPr>
        <a:xfrm>
          <a:off x="797840" y="2965792"/>
          <a:ext cx="4241250" cy="1897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/>
            <a:t>Interface Utilisateur Réactive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800" kern="1200" dirty="0"/>
            <a:t>Composants interactifs : champs texte, </a:t>
          </a:r>
          <a:r>
            <a:rPr lang="fr-FR" sz="1800" kern="1200" dirty="0" err="1"/>
            <a:t>markdown</a:t>
          </a:r>
          <a:r>
            <a:rPr lang="fr-FR" sz="1800" kern="1200" dirty="0"/>
            <a:t>, boutons, onglets, indicateurs de chargement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800" kern="1200" dirty="0"/>
            <a:t>Amélioration UX : sources visibles, indicateurs confiance, responsive design</a:t>
          </a:r>
          <a:endParaRPr lang="en-US" sz="1800" kern="1200" dirty="0"/>
        </a:p>
      </dsp:txBody>
      <dsp:txXfrm>
        <a:off x="797840" y="2965792"/>
        <a:ext cx="4241250" cy="1897286"/>
      </dsp:txXfrm>
    </dsp:sp>
    <dsp:sp modelId="{95A43AC7-A843-4503-9AAA-0D0DD01653EF}">
      <dsp:nvSpPr>
        <dsp:cNvPr id="0" name=""/>
        <dsp:cNvSpPr/>
      </dsp:nvSpPr>
      <dsp:spPr>
        <a:xfrm>
          <a:off x="6947653" y="381757"/>
          <a:ext cx="1908562" cy="1908562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706D2-DC65-4045-84C7-F438CD5F8BB5}">
      <dsp:nvSpPr>
        <dsp:cNvPr id="0" name=""/>
        <dsp:cNvSpPr/>
      </dsp:nvSpPr>
      <dsp:spPr>
        <a:xfrm>
          <a:off x="5781309" y="2993526"/>
          <a:ext cx="4241250" cy="18603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/>
            <a:t>Extraction automatique des données</a:t>
          </a:r>
          <a:r>
            <a:rPr lang="fr-FR" sz="2000" kern="1200" dirty="0"/>
            <a:t>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800" kern="1200" dirty="0"/>
            <a:t>Configuration déclarative : URLs, navigation, extraction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800" kern="1200" dirty="0"/>
            <a:t>Prétraitement intégré pour nettoyage des données</a:t>
          </a:r>
          <a:endParaRPr lang="en-US" sz="1800" kern="1200" dirty="0"/>
        </a:p>
      </dsp:txBody>
      <dsp:txXfrm>
        <a:off x="5781309" y="2993526"/>
        <a:ext cx="4241250" cy="18603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54306-CBA9-48F0-859A-0F3648525B4B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0FFDF3-F91E-4BBE-A24B-391C4BCD24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1622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23F4AD-7F13-A14B-1BDF-68F51ADCD2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4C45AE2-E7EF-4F72-4B46-A1D4744ADA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732CA5-4B13-DBDE-4319-072773D8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FA714-7575-46B3-833F-DE9F8110B138}" type="datetime1">
              <a:rPr lang="fr-FR" smtClean="0"/>
              <a:t>25/03/2025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7D9CD6-0DFF-4F9E-599B-5FF73DD2B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9A718B-56E5-A62D-7A9B-69BFBFCBE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AC25-3DB5-4B1E-B40D-D23343B05C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1386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0A7FFC-208C-B845-E4AE-9EAEF4BC2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0803F8-C607-0293-59B4-1B3E18703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CF1B65-4059-9CC9-86B5-B42DE026C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C1CF1-D6ED-4AAF-9D0D-17B30BC918DF}" type="datetime1">
              <a:rPr lang="fr-FR" smtClean="0"/>
              <a:t>25/03/2025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D22FC8-6DDA-1955-A511-14EC36115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34AED1-917C-1A7E-FFC2-4FC6BDB2C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AC25-3DB5-4B1E-B40D-D23343B05C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1505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60998C-C284-CE68-64D3-844DF0101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65D516A-3D80-D630-CF34-A08F64351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447715-D48F-A68C-181F-50D0E8F21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9AC2-2D1A-476F-B7E2-065A5693D3BF}" type="datetime1">
              <a:rPr lang="fr-FR" smtClean="0"/>
              <a:t>25/03/2025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9ABD29-7395-71F2-547B-9BFA63232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A210E1-17EE-469B-8173-FAE265719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AC25-3DB5-4B1E-B40D-D23343B05C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232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D7E21F-E5CB-C311-41E1-2F2210B47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8DD20E-0F16-63BD-2832-2F3982C733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BE7E5F0-1A22-44EC-725E-22C8F09DE4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E16A048-91F5-7404-C0D0-9CE674511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D658-5D03-4A9B-B2E1-8E30863485D5}" type="datetime1">
              <a:rPr lang="fr-FR" smtClean="0"/>
              <a:t>25/03/2025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434F5BF-D6D6-2E60-71FE-A4EA1956A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32A0CCF-FFEE-EF8D-E00C-905AD64A4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AC25-3DB5-4B1E-B40D-D23343B05C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5597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1C5B42-F192-7C61-8870-C9EB4C909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EA28E1F-41FB-B073-7D83-E63343BF7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F6B7BE4-E696-BB13-D565-422D4A392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A67BACD-36D7-01C6-F022-6EE7C620DD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38E38CC-739D-35AD-0913-0E99DE015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1A298B1-E5C0-58C3-3473-A10374F27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A93B6-A61E-47FB-BFB8-66AB544FB423}" type="datetime1">
              <a:rPr lang="fr-FR" smtClean="0"/>
              <a:t>25/03/2025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C4BA388-F1B5-FC1C-3CD1-2B1BCA3F9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FF2ABC2-663E-5085-3CC5-A91DDD416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AC25-3DB5-4B1E-B40D-D23343B05C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5848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B7FF40-92C5-96C2-C83E-B5215C040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BA607C9-E748-3C11-0B22-07B61F95A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C9C71-7D9C-49A1-B2B7-9667CB2B957B}" type="datetime1">
              <a:rPr lang="fr-FR" smtClean="0"/>
              <a:t>25/03/2025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61703D-872C-FA55-7535-F592749D2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9A5F780-7D7B-1F69-1F7A-92EDFA10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AC25-3DB5-4B1E-B40D-D23343B05C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1696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CF2D4D8-8169-2F24-B3D1-A96496B59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7DE51-128F-4971-863A-52BA57C52CC7}" type="datetime1">
              <a:rPr lang="fr-FR" smtClean="0"/>
              <a:t>25/03/2025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A2BDF52-5A53-EDEF-A4AD-176A5BE05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DBC2AE-72BA-6DAC-6EA6-52C20AAF1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AC25-3DB5-4B1E-B40D-D23343B05C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8154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8111E8-5A98-1DF0-2160-F069D09AD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277976-175D-3237-D126-99E16ED5A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201B445-87C5-81BF-F930-6C2AE56CD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8D3F989-33F9-0B82-61A5-EBE92AB51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B2BDB-002A-4E5C-A8F9-80D08AB27459}" type="datetime1">
              <a:rPr lang="fr-FR" smtClean="0"/>
              <a:t>25/03/2025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58D51C3-8F3A-36A7-D22C-632C9B957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D27C6C1-C9A2-1563-163B-979CC444B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AC25-3DB5-4B1E-B40D-D23343B05C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7258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839C1F-DF6E-BC60-2BBF-52C510627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B7C359C-F9B9-8125-C8E2-E6C1537A94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41F8C9C-6347-0A7E-E339-57985D712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F5FF351-2D7F-230A-B9D0-B4E3365A7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1AD81-A39E-4479-A389-B074B28A41A7}" type="datetime1">
              <a:rPr lang="fr-FR" smtClean="0"/>
              <a:t>25/03/2025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74F828B-ACBB-19F6-65BB-FF7D64B32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0355D6A-F62F-87CF-CB83-1FB5DAF6C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AC25-3DB5-4B1E-B40D-D23343B05C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3728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2DC5FC-A266-E854-A77E-998FC59E1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D86B3B5-6702-B7CC-4C17-DDBEF161AF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75C0E4-A0E3-46AE-9B9A-1670FA8DE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F509C-3B7E-4A36-A25C-5066FCA00268}" type="datetime1">
              <a:rPr lang="fr-FR" smtClean="0"/>
              <a:t>25/03/2025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E9142B-BE5F-0950-28F5-827A8724E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BE29B2-9780-366B-1E3E-BF26251CD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AC25-3DB5-4B1E-B40D-D23343B05C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2938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F1F4B94-D779-3290-B027-F212AF94A2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1DC90A1-E0DB-5FDD-E81E-94D8ACFBC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431B0A-2E40-CAA1-8DCE-12E1F87B6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E5A8F-A674-4537-9832-46D9A5A40703}" type="datetime1">
              <a:rPr lang="fr-FR" smtClean="0"/>
              <a:t>25/03/2025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49D581-8CCE-0AA4-AD4A-AD5447914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9995FA-A085-0320-0A67-03D444D1C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AC25-3DB5-4B1E-B40D-D23343B05C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1084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23DDC0B-E4A6-219A-60CF-20AF22B8D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BB1F367-8780-1EA9-7AFC-DC1AF417E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952ABB-DD91-101A-439A-130A128316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4260C4-C96B-4C25-97F8-D619D25130DD}" type="datetime1">
              <a:rPr lang="fr-FR" smtClean="0"/>
              <a:t>25/03/2025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0C9474-0AEF-8EA0-9E5A-427DC9CA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1DDF95-4916-818D-B821-115601F1FF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4BAC25-3DB5-4B1E-B40D-D23343B05C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732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3.png"/><Relationship Id="rId3" Type="http://schemas.microsoft.com/office/2007/relationships/hdphoto" Target="../media/hdphoto1.wdp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2.png"/><Relationship Id="rId2" Type="http://schemas.openxmlformats.org/officeDocument/2006/relationships/image" Target="../media/image19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microsoft.com/office/2007/relationships/hdphoto" Target="../media/hdphoto2.wdp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8D24E9-1BF6-7D44-56DF-BE89AAA334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B1D9394-D778-E8CB-1BC7-1C65D685C6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chat, texte, Chats petite et moyenne taille, illustration&#10;&#10;Le contenu généré par l’IA peut être incorrect.">
            <a:extLst>
              <a:ext uri="{FF2B5EF4-FFF2-40B4-BE49-F238E27FC236}">
                <a16:creationId xmlns:a16="http://schemas.microsoft.com/office/drawing/2014/main" id="{75A29F57-97E8-E060-363A-5D662F7D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2077"/>
            <a:ext cx="12204781" cy="684004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E6566C2-DAB3-1AAC-FF05-AC661A133640}"/>
              </a:ext>
            </a:extLst>
          </p:cNvPr>
          <p:cNvSpPr txBox="1"/>
          <p:nvPr/>
        </p:nvSpPr>
        <p:spPr>
          <a:xfrm>
            <a:off x="0" y="4109661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/>
              <a:t>Etude comparative des approches de développement </a:t>
            </a:r>
          </a:p>
          <a:p>
            <a:pPr algn="ctr"/>
            <a:r>
              <a:rPr lang="fr-FR" sz="2400" b="1" dirty="0"/>
              <a:t>d’un </a:t>
            </a:r>
            <a:r>
              <a:rPr lang="fr-FR" sz="2400" b="1" dirty="0" err="1"/>
              <a:t>Chatbot</a:t>
            </a:r>
            <a:r>
              <a:rPr lang="fr-FR" sz="2400" b="1" dirty="0"/>
              <a:t> pour Seatech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9EB1191-B50E-442D-657A-DB1DB9C86F72}"/>
              </a:ext>
            </a:extLst>
          </p:cNvPr>
          <p:cNvSpPr txBox="1"/>
          <p:nvPr/>
        </p:nvSpPr>
        <p:spPr>
          <a:xfrm>
            <a:off x="0" y="177949"/>
            <a:ext cx="8488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/>
              <a:t>ORLANDO Victor, ARNEODO </a:t>
            </a:r>
            <a:r>
              <a:rPr lang="es-ES" sz="1600" b="1" dirty="0" err="1"/>
              <a:t>Valentin</a:t>
            </a:r>
            <a:r>
              <a:rPr lang="es-ES" sz="1600" b="1" dirty="0"/>
              <a:t>, PIGNOL Nathan, DE COCK Enzo</a:t>
            </a:r>
          </a:p>
        </p:txBody>
      </p:sp>
      <p:pic>
        <p:nvPicPr>
          <p:cNvPr id="11" name="Image 10" descr="Une image contenant Police, Graphique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8910E789-F4BA-5F89-DB8E-85066906AA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1761" y="-48746"/>
            <a:ext cx="3380239" cy="961646"/>
          </a:xfrm>
          <a:prstGeom prst="rect">
            <a:avLst/>
          </a:prstGeom>
        </p:spPr>
      </p:pic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EA34A72A-532E-32C2-8826-A9C1E19BC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AC25-3DB5-4B1E-B40D-D23343B05CD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5835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8E96C2-6517-7D0C-D065-D54DFBFC7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8805"/>
            <a:ext cx="10515600" cy="984222"/>
          </a:xfrm>
        </p:spPr>
        <p:txBody>
          <a:bodyPr/>
          <a:lstStyle/>
          <a:p>
            <a:r>
              <a:rPr lang="fr-FR" b="1" dirty="0">
                <a:solidFill>
                  <a:schemeClr val="tx2"/>
                </a:solidFill>
              </a:rPr>
              <a:t>Sommaire</a:t>
            </a:r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7A6029-CE69-CC58-1044-0734BAEC6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332848"/>
            <a:ext cx="10820400" cy="5235592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3600" b="1" dirty="0">
                <a:solidFill>
                  <a:schemeClr val="tx2"/>
                </a:solidFill>
              </a:rPr>
              <a:t>Introduction aux LLM et RAG 🧠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3600" b="1" dirty="0">
                <a:solidFill>
                  <a:schemeClr val="tx2"/>
                </a:solidFill>
              </a:rPr>
              <a:t>Le besoin pour SeaTech 🎓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3600" b="1" dirty="0">
                <a:solidFill>
                  <a:schemeClr val="tx2"/>
                </a:solidFill>
              </a:rPr>
              <a:t>Deux approches pour un </a:t>
            </a:r>
            <a:r>
              <a:rPr lang="fr-FR" sz="3600" b="1" dirty="0" err="1">
                <a:solidFill>
                  <a:schemeClr val="tx2"/>
                </a:solidFill>
              </a:rPr>
              <a:t>Chatbot</a:t>
            </a:r>
            <a:r>
              <a:rPr lang="fr-FR" sz="3600" b="1" dirty="0">
                <a:solidFill>
                  <a:schemeClr val="tx2"/>
                </a:solidFill>
              </a:rPr>
              <a:t> 🤖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3600" b="1" dirty="0">
                <a:solidFill>
                  <a:schemeClr val="tx2"/>
                </a:solidFill>
              </a:rPr>
              <a:t>Notre solution hybride 🔄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3600" b="1" dirty="0">
                <a:solidFill>
                  <a:schemeClr val="tx2"/>
                </a:solidFill>
              </a:rPr>
              <a:t>Freddy et Franky 🐾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3600" b="1" dirty="0">
                <a:solidFill>
                  <a:schemeClr val="tx2"/>
                </a:solidFill>
              </a:rPr>
              <a:t>Démonstration technique 💻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AF0B1C-3E6F-CB26-ACD0-4EE2AA8F19F2}"/>
              </a:ext>
            </a:extLst>
          </p:cNvPr>
          <p:cNvSpPr/>
          <p:nvPr/>
        </p:nvSpPr>
        <p:spPr>
          <a:xfrm>
            <a:off x="5222" y="-7070"/>
            <a:ext cx="331836" cy="1020097"/>
          </a:xfrm>
          <a:prstGeom prst="rect">
            <a:avLst/>
          </a:prstGeom>
          <a:solidFill>
            <a:srgbClr val="1B99D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666564-663A-37AC-D6AE-8F260D25D1DB}"/>
              </a:ext>
            </a:extLst>
          </p:cNvPr>
          <p:cNvSpPr/>
          <p:nvPr/>
        </p:nvSpPr>
        <p:spPr>
          <a:xfrm>
            <a:off x="5223" y="977152"/>
            <a:ext cx="12142834" cy="415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7142E2-CF66-0160-F073-4C5926C18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AC25-3DB5-4B1E-B40D-D23343B05CD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7816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DDD1B-6E7B-EA8F-0F89-156EA3675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873EA2-8176-D184-1EC7-011E3221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8805"/>
            <a:ext cx="10515600" cy="984222"/>
          </a:xfrm>
        </p:spPr>
        <p:txBody>
          <a:bodyPr/>
          <a:lstStyle/>
          <a:p>
            <a:r>
              <a:rPr lang="fr-FR" b="1" dirty="0">
                <a:solidFill>
                  <a:schemeClr val="tx2"/>
                </a:solidFill>
              </a:rPr>
              <a:t>Introduction aux Large </a:t>
            </a:r>
            <a:r>
              <a:rPr lang="fr-FR" b="1" dirty="0" err="1">
                <a:solidFill>
                  <a:schemeClr val="tx2"/>
                </a:solidFill>
              </a:rPr>
              <a:t>Language</a:t>
            </a:r>
            <a:r>
              <a:rPr lang="fr-FR" b="1" dirty="0">
                <a:solidFill>
                  <a:schemeClr val="tx2"/>
                </a:solidFill>
              </a:rPr>
              <a:t> Model</a:t>
            </a:r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4DBEC7-F7BE-3F66-13EB-CB50CD23D8EA}"/>
              </a:ext>
            </a:extLst>
          </p:cNvPr>
          <p:cNvSpPr/>
          <p:nvPr/>
        </p:nvSpPr>
        <p:spPr>
          <a:xfrm>
            <a:off x="5222" y="-7070"/>
            <a:ext cx="331836" cy="1020097"/>
          </a:xfrm>
          <a:prstGeom prst="rect">
            <a:avLst/>
          </a:prstGeom>
          <a:solidFill>
            <a:srgbClr val="1B99D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F6C077-D2B0-F1CE-A638-484A1BF383F6}"/>
              </a:ext>
            </a:extLst>
          </p:cNvPr>
          <p:cNvSpPr/>
          <p:nvPr/>
        </p:nvSpPr>
        <p:spPr>
          <a:xfrm>
            <a:off x="5223" y="977152"/>
            <a:ext cx="12142834" cy="415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0BD84C-32AF-27E8-EE78-E309CA752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AC25-3DB5-4B1E-B40D-D23343B05CD0}" type="slidenum">
              <a:rPr lang="fr-FR" smtClean="0"/>
              <a:t>3</a:t>
            </a:fld>
            <a:endParaRPr lang="fr-FR"/>
          </a:p>
        </p:txBody>
      </p:sp>
      <p:pic>
        <p:nvPicPr>
          <p:cNvPr id="8" name="Image 7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0D67E4DC-A4D3-52AB-C76D-F876D857D2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20" y="1097915"/>
            <a:ext cx="9997440" cy="562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369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BAFAB-3AE4-E2DA-D427-0E4EC78EE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9B0439-5CBB-9409-C534-ED464FCFE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8805"/>
            <a:ext cx="10515600" cy="984222"/>
          </a:xfrm>
        </p:spPr>
        <p:txBody>
          <a:bodyPr/>
          <a:lstStyle/>
          <a:p>
            <a:r>
              <a:rPr lang="fr-FR" b="1" dirty="0">
                <a:solidFill>
                  <a:schemeClr val="tx2"/>
                </a:solidFill>
              </a:rPr>
              <a:t>Limites des LLM et solution RAG</a:t>
            </a:r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BB3341-7411-0AEE-AC91-019FE02BAFD9}"/>
              </a:ext>
            </a:extLst>
          </p:cNvPr>
          <p:cNvSpPr/>
          <p:nvPr/>
        </p:nvSpPr>
        <p:spPr>
          <a:xfrm>
            <a:off x="5222" y="-7070"/>
            <a:ext cx="331836" cy="1020097"/>
          </a:xfrm>
          <a:prstGeom prst="rect">
            <a:avLst/>
          </a:prstGeom>
          <a:solidFill>
            <a:srgbClr val="1B99D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9DBBDA-9984-B8C1-FEA1-3D151904AF5F}"/>
              </a:ext>
            </a:extLst>
          </p:cNvPr>
          <p:cNvSpPr/>
          <p:nvPr/>
        </p:nvSpPr>
        <p:spPr>
          <a:xfrm>
            <a:off x="5223" y="977152"/>
            <a:ext cx="12142834" cy="415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B9570E-BF55-E6DE-B57C-39A266561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AC25-3DB5-4B1E-B40D-D23343B05CD0}" type="slidenum">
              <a:rPr lang="fr-FR" smtClean="0"/>
              <a:t>4</a:t>
            </a:fld>
            <a:endParaRPr lang="fr-FR"/>
          </a:p>
        </p:txBody>
      </p:sp>
      <p:pic>
        <p:nvPicPr>
          <p:cNvPr id="8" name="Image 7" descr="Une image contenant capture d’écran, diagramme, texte, cercle&#10;&#10;Le contenu généré par l’IA peut être incorrect.">
            <a:extLst>
              <a:ext uri="{FF2B5EF4-FFF2-40B4-BE49-F238E27FC236}">
                <a16:creationId xmlns:a16="http://schemas.microsoft.com/office/drawing/2014/main" id="{3AD6ACBB-91BC-D9DB-8290-7FFF65ECD1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5" t="20290" r="8985"/>
          <a:stretch/>
        </p:blipFill>
        <p:spPr>
          <a:xfrm>
            <a:off x="5529725" y="2171672"/>
            <a:ext cx="6532301" cy="3610581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B81AB7-F851-211E-7B23-8D2B55AB9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40" y="1702963"/>
            <a:ext cx="5696260" cy="45480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b="1" dirty="0">
                <a:solidFill>
                  <a:schemeClr val="tx2"/>
                </a:solidFill>
              </a:rPr>
              <a:t>Limites des LLM 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400" b="1" dirty="0">
                <a:solidFill>
                  <a:schemeClr val="tx2"/>
                </a:solidFill>
              </a:rPr>
              <a:t>Hallucinations❗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400" b="1" dirty="0">
                <a:solidFill>
                  <a:schemeClr val="tx2"/>
                </a:solidFill>
              </a:rPr>
              <a:t>Connaissances limitées❗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400" b="1" dirty="0">
                <a:solidFill>
                  <a:schemeClr val="tx2"/>
                </a:solidFill>
              </a:rPr>
              <a:t>Difficulté avec infos spécifiques ❗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2F17094-772C-BD87-6BC0-A7D1ACEDC12D}"/>
              </a:ext>
            </a:extLst>
          </p:cNvPr>
          <p:cNvSpPr txBox="1"/>
          <p:nvPr/>
        </p:nvSpPr>
        <p:spPr>
          <a:xfrm>
            <a:off x="5715000" y="1543209"/>
            <a:ext cx="6096000" cy="676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fr-FR" sz="2800" b="1" dirty="0">
                <a:solidFill>
                  <a:schemeClr val="tx2"/>
                </a:solidFill>
              </a:rPr>
              <a:t>Solution RAG</a:t>
            </a:r>
          </a:p>
        </p:txBody>
      </p:sp>
    </p:spTree>
    <p:extLst>
      <p:ext uri="{BB962C8B-B14F-4D97-AF65-F5344CB8AC3E}">
        <p14:creationId xmlns:p14="http://schemas.microsoft.com/office/powerpoint/2010/main" val="1258295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CB409-4F67-FB0A-BD76-E6D90DACF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43D529-5E08-7AFC-7CBF-90263034C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058" y="28805"/>
            <a:ext cx="10711942" cy="984222"/>
          </a:xfrm>
        </p:spPr>
        <p:txBody>
          <a:bodyPr/>
          <a:lstStyle/>
          <a:p>
            <a:r>
              <a:rPr lang="fr-FR" b="1" dirty="0">
                <a:solidFill>
                  <a:schemeClr val="tx2"/>
                </a:solidFill>
              </a:rPr>
              <a:t>Le Besoin pour SeaTech</a:t>
            </a:r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4AE926-556A-4347-1521-B3573017EBD3}"/>
              </a:ext>
            </a:extLst>
          </p:cNvPr>
          <p:cNvSpPr/>
          <p:nvPr/>
        </p:nvSpPr>
        <p:spPr>
          <a:xfrm>
            <a:off x="5222" y="-7070"/>
            <a:ext cx="331836" cy="1020097"/>
          </a:xfrm>
          <a:prstGeom prst="rect">
            <a:avLst/>
          </a:prstGeom>
          <a:solidFill>
            <a:srgbClr val="1B99D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6092C4-E974-B3DE-42BB-59E013E3A1D8}"/>
              </a:ext>
            </a:extLst>
          </p:cNvPr>
          <p:cNvSpPr/>
          <p:nvPr/>
        </p:nvSpPr>
        <p:spPr>
          <a:xfrm>
            <a:off x="5223" y="977152"/>
            <a:ext cx="12142834" cy="415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63CB29-2D81-F17B-49FF-2D952570F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AC25-3DB5-4B1E-B40D-D23343B05CD0}" type="slidenum">
              <a:rPr lang="fr-FR" smtClean="0"/>
              <a:t>5</a:t>
            </a:fld>
            <a:endParaRPr lang="fr-FR"/>
          </a:p>
        </p:txBody>
      </p:sp>
      <p:pic>
        <p:nvPicPr>
          <p:cNvPr id="8" name="Image 7" descr="Une image contenant Police, Graphique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9632D2CD-A7E5-6C66-D8AD-632AE7211D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1337" y="1193725"/>
            <a:ext cx="4229325" cy="1203203"/>
          </a:xfrm>
          <a:prstGeom prst="rect">
            <a:avLst/>
          </a:prstGeom>
        </p:spPr>
      </p:pic>
      <p:pic>
        <p:nvPicPr>
          <p:cNvPr id="10" name="Image 9" descr="Une image contenant Graphique, cercle, clipart, Caractère coloré&#10;&#10;Le contenu généré par l’IA peut être incorrect.">
            <a:extLst>
              <a:ext uri="{FF2B5EF4-FFF2-40B4-BE49-F238E27FC236}">
                <a16:creationId xmlns:a16="http://schemas.microsoft.com/office/drawing/2014/main" id="{13C934AD-03FA-560E-141D-9F96E180D6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58" y="2571100"/>
            <a:ext cx="3044653" cy="3044653"/>
          </a:xfrm>
          <a:prstGeom prst="rect">
            <a:avLst/>
          </a:prstGeom>
        </p:spPr>
      </p:pic>
      <p:pic>
        <p:nvPicPr>
          <p:cNvPr id="12" name="Image 11" descr="Une image contenant capture d’écran, Graphique, Rectangl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2E3EB100-604C-D3FF-382F-78242A4C9B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4181" y="2619622"/>
            <a:ext cx="3044653" cy="3044653"/>
          </a:xfrm>
          <a:prstGeom prst="rect">
            <a:avLst/>
          </a:prstGeom>
        </p:spPr>
      </p:pic>
      <p:pic>
        <p:nvPicPr>
          <p:cNvPr id="14" name="Image 13" descr="Une image contenant Graphique, clipart, cercle, graphisme&#10;&#10;Le contenu généré par l’IA peut être incorrect.">
            <a:extLst>
              <a:ext uri="{FF2B5EF4-FFF2-40B4-BE49-F238E27FC236}">
                <a16:creationId xmlns:a16="http://schemas.microsoft.com/office/drawing/2014/main" id="{8FA489E8-DD5A-41A4-84FB-18DEB3B26C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0291" y="2619622"/>
            <a:ext cx="3044653" cy="304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263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10C94-A0FE-425C-9C1F-7FE810DE0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391350-22FF-A6B7-7470-E04D5393D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8805"/>
            <a:ext cx="10515600" cy="984222"/>
          </a:xfrm>
        </p:spPr>
        <p:txBody>
          <a:bodyPr/>
          <a:lstStyle/>
          <a:p>
            <a:r>
              <a:rPr lang="fr-FR" b="1" dirty="0">
                <a:solidFill>
                  <a:schemeClr val="tx2"/>
                </a:solidFill>
              </a:rPr>
              <a:t> Deux approches pour un </a:t>
            </a:r>
            <a:r>
              <a:rPr lang="fr-FR" b="1" dirty="0" err="1">
                <a:solidFill>
                  <a:schemeClr val="tx2"/>
                </a:solidFill>
              </a:rPr>
              <a:t>Chatbot</a:t>
            </a:r>
            <a:endParaRPr lang="fr-FR" dirty="0">
              <a:solidFill>
                <a:schemeClr val="tx2"/>
              </a:solidFill>
            </a:endParaRPr>
          </a:p>
        </p:txBody>
      </p:sp>
      <p:graphicFrame>
        <p:nvGraphicFramePr>
          <p:cNvPr id="8" name="Espace réservé du contenu 2">
            <a:extLst>
              <a:ext uri="{FF2B5EF4-FFF2-40B4-BE49-F238E27FC236}">
                <a16:creationId xmlns:a16="http://schemas.microsoft.com/office/drawing/2014/main" id="{1CC2B2C8-CB8C-D9CC-FC9C-6CE0D18EED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5747500"/>
              </p:ext>
            </p:extLst>
          </p:nvPr>
        </p:nvGraphicFramePr>
        <p:xfrm>
          <a:off x="533400" y="1332848"/>
          <a:ext cx="10820400" cy="5235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40F0D78-9500-07A1-E06E-1D2C435BCBB9}"/>
              </a:ext>
            </a:extLst>
          </p:cNvPr>
          <p:cNvSpPr/>
          <p:nvPr/>
        </p:nvSpPr>
        <p:spPr>
          <a:xfrm>
            <a:off x="5222" y="-7070"/>
            <a:ext cx="331836" cy="1020097"/>
          </a:xfrm>
          <a:prstGeom prst="rect">
            <a:avLst/>
          </a:prstGeom>
          <a:solidFill>
            <a:srgbClr val="1B99D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C45BF4-A50C-0CB2-2F8E-7EFDAB4D4993}"/>
              </a:ext>
            </a:extLst>
          </p:cNvPr>
          <p:cNvSpPr/>
          <p:nvPr/>
        </p:nvSpPr>
        <p:spPr>
          <a:xfrm>
            <a:off x="5223" y="977152"/>
            <a:ext cx="12142834" cy="415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EB07C6-1A98-CF0F-F07F-B75BFB069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AC25-3DB5-4B1E-B40D-D23343B05CD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2646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6A8E9-616F-3407-CBEC-D411C98E5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68603A-1D02-E36C-3CE7-A262ABD10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8805"/>
            <a:ext cx="10515600" cy="984222"/>
          </a:xfrm>
        </p:spPr>
        <p:txBody>
          <a:bodyPr/>
          <a:lstStyle/>
          <a:p>
            <a:r>
              <a:rPr lang="fr-FR" b="1" dirty="0">
                <a:solidFill>
                  <a:schemeClr val="tx2"/>
                </a:solidFill>
              </a:rPr>
              <a:t>Approche Full Python avec Flask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309A8F-5208-77C0-0DF2-AE2C620661A4}"/>
              </a:ext>
            </a:extLst>
          </p:cNvPr>
          <p:cNvSpPr/>
          <p:nvPr/>
        </p:nvSpPr>
        <p:spPr>
          <a:xfrm>
            <a:off x="5222" y="-7070"/>
            <a:ext cx="331836" cy="1020097"/>
          </a:xfrm>
          <a:prstGeom prst="rect">
            <a:avLst/>
          </a:prstGeom>
          <a:solidFill>
            <a:srgbClr val="1B99D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AD532F-9EEA-5ACC-27E9-939243639CF8}"/>
              </a:ext>
            </a:extLst>
          </p:cNvPr>
          <p:cNvSpPr/>
          <p:nvPr/>
        </p:nvSpPr>
        <p:spPr>
          <a:xfrm>
            <a:off x="5223" y="977152"/>
            <a:ext cx="12142834" cy="415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502EE0-7A7F-0DFE-CBB5-F778774B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AC25-3DB5-4B1E-B40D-D23343B05CD0}" type="slidenum">
              <a:rPr lang="fr-FR" smtClean="0"/>
              <a:t>7</a:t>
            </a:fld>
            <a:endParaRPr lang="fr-FR"/>
          </a:p>
        </p:txBody>
      </p:sp>
      <p:pic>
        <p:nvPicPr>
          <p:cNvPr id="10" name="Image 9" descr="Une image contenant texte, dessin, illustration&#10;&#10;Le contenu généré par l’IA peut être incorrect.">
            <a:extLst>
              <a:ext uri="{FF2B5EF4-FFF2-40B4-BE49-F238E27FC236}">
                <a16:creationId xmlns:a16="http://schemas.microsoft.com/office/drawing/2014/main" id="{41FEA00E-635A-0B67-C02C-138A19F083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840" y="1059730"/>
            <a:ext cx="2478541" cy="3192060"/>
          </a:xfrm>
          <a:prstGeom prst="rect">
            <a:avLst/>
          </a:prstGeom>
        </p:spPr>
      </p:pic>
      <p:pic>
        <p:nvPicPr>
          <p:cNvPr id="12" name="Image 11" descr="Une image contenant Graphique, symbole, clipart, logo&#10;&#10;Le contenu généré par l’IA peut être incorrect.">
            <a:extLst>
              <a:ext uri="{FF2B5EF4-FFF2-40B4-BE49-F238E27FC236}">
                <a16:creationId xmlns:a16="http://schemas.microsoft.com/office/drawing/2014/main" id="{2ED407E2-40DD-F9A0-7A7E-A30D2E7229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1334" y="1013027"/>
            <a:ext cx="3289956" cy="3289956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B3011389-8A25-5CBD-4AD6-AEF776DB971C}"/>
              </a:ext>
            </a:extLst>
          </p:cNvPr>
          <p:cNvSpPr txBox="1"/>
          <p:nvPr/>
        </p:nvSpPr>
        <p:spPr>
          <a:xfrm>
            <a:off x="171140" y="4633068"/>
            <a:ext cx="54839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b="1" dirty="0"/>
              <a:t>Interface utilisateur Flask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fr-FR" dirty="0"/>
              <a:t>Interface développée entièrement en HTML/CSS et JavaScript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fr-FR" dirty="0"/>
              <a:t>Personnalisation complète et intégration UX approfondie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fr-FR" dirty="0"/>
              <a:t>Gestion avancée des erreurs et mécanismes de </a:t>
            </a:r>
            <a:r>
              <a:rPr lang="fr-FR" dirty="0" err="1"/>
              <a:t>fallback</a:t>
            </a:r>
            <a:r>
              <a:rPr lang="fr-FR" dirty="0"/>
              <a:t> sophistiqués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91B3AEC-0F43-F939-AD81-EEA05823721C}"/>
              </a:ext>
            </a:extLst>
          </p:cNvPr>
          <p:cNvSpPr txBox="1"/>
          <p:nvPr/>
        </p:nvSpPr>
        <p:spPr>
          <a:xfrm>
            <a:off x="6098458" y="4633068"/>
            <a:ext cx="560438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Extraction personnalisée des données via scripts Python</a:t>
            </a:r>
          </a:p>
          <a:p>
            <a:pPr algn="ctr"/>
            <a:r>
              <a:rPr lang="fr-FR" dirty="0"/>
              <a:t>Contrôle précis sur la collecte d'informations</a:t>
            </a: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r>
              <a:rPr lang="fr-FR" dirty="0"/>
              <a:t>Vectorisation avancée avec </a:t>
            </a:r>
            <a:r>
              <a:rPr lang="fr-FR" dirty="0" err="1"/>
              <a:t>SentenceTransformer</a:t>
            </a:r>
            <a:r>
              <a:rPr lang="fr-FR" dirty="0"/>
              <a:t> (all-MiniLM-L6-v2)</a:t>
            </a: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r>
              <a:rPr lang="fr-FR" dirty="0"/>
              <a:t>Stockage et interrogation optimisés avec FAISS</a:t>
            </a:r>
          </a:p>
        </p:txBody>
      </p:sp>
    </p:spTree>
    <p:extLst>
      <p:ext uri="{BB962C8B-B14F-4D97-AF65-F5344CB8AC3E}">
        <p14:creationId xmlns:p14="http://schemas.microsoft.com/office/powerpoint/2010/main" val="2894946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5235A-74CB-3626-CD3A-49F1008DD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A0B869-E0F2-6AE8-966E-9ED9EA0F0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8805"/>
            <a:ext cx="10515600" cy="984222"/>
          </a:xfrm>
        </p:spPr>
        <p:txBody>
          <a:bodyPr/>
          <a:lstStyle/>
          <a:p>
            <a:r>
              <a:rPr lang="fr-FR" b="1" dirty="0">
                <a:solidFill>
                  <a:schemeClr val="tx2"/>
                </a:solidFill>
              </a:rPr>
              <a:t>Approche </a:t>
            </a:r>
            <a:r>
              <a:rPr lang="fr-FR" b="1" dirty="0" err="1">
                <a:solidFill>
                  <a:schemeClr val="tx2"/>
                </a:solidFill>
              </a:rPr>
              <a:t>Streamlit</a:t>
            </a:r>
            <a:r>
              <a:rPr lang="fr-FR" b="1" dirty="0">
                <a:solidFill>
                  <a:schemeClr val="tx2"/>
                </a:solidFill>
              </a:rPr>
              <a:t> et </a:t>
            </a:r>
            <a:r>
              <a:rPr lang="fr-FR" b="1" dirty="0" err="1">
                <a:solidFill>
                  <a:schemeClr val="tx2"/>
                </a:solidFill>
              </a:rPr>
              <a:t>Firecrawl</a:t>
            </a:r>
            <a:endParaRPr lang="fr-FR" b="1" dirty="0">
              <a:solidFill>
                <a:schemeClr val="tx2"/>
              </a:solidFill>
            </a:endParaRPr>
          </a:p>
        </p:txBody>
      </p:sp>
      <p:graphicFrame>
        <p:nvGraphicFramePr>
          <p:cNvPr id="8" name="Espace réservé du contenu 2">
            <a:extLst>
              <a:ext uri="{FF2B5EF4-FFF2-40B4-BE49-F238E27FC236}">
                <a16:creationId xmlns:a16="http://schemas.microsoft.com/office/drawing/2014/main" id="{DA045446-E158-9BB3-432D-DDFBBAD3E0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0385530"/>
              </p:ext>
            </p:extLst>
          </p:nvPr>
        </p:nvGraphicFramePr>
        <p:xfrm>
          <a:off x="533400" y="1332848"/>
          <a:ext cx="10820400" cy="5235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286ACC4-0AA2-13BE-12A7-91F3F8ED46EB}"/>
              </a:ext>
            </a:extLst>
          </p:cNvPr>
          <p:cNvSpPr/>
          <p:nvPr/>
        </p:nvSpPr>
        <p:spPr>
          <a:xfrm>
            <a:off x="5222" y="-7070"/>
            <a:ext cx="331836" cy="1020097"/>
          </a:xfrm>
          <a:prstGeom prst="rect">
            <a:avLst/>
          </a:prstGeom>
          <a:solidFill>
            <a:srgbClr val="1B99D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08E3D9-17FA-C1DA-4A3C-07D906F4175A}"/>
              </a:ext>
            </a:extLst>
          </p:cNvPr>
          <p:cNvSpPr/>
          <p:nvPr/>
        </p:nvSpPr>
        <p:spPr>
          <a:xfrm>
            <a:off x="5223" y="977152"/>
            <a:ext cx="12142834" cy="415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EF347A-5012-7057-C727-685549B3A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AC25-3DB5-4B1E-B40D-D23343B05CD0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8945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EDE26-B938-2747-5E7C-B335F3C7A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405C76-0A3A-A243-A2FA-3A8D8B25D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8805"/>
            <a:ext cx="10515600" cy="984222"/>
          </a:xfrm>
        </p:spPr>
        <p:txBody>
          <a:bodyPr/>
          <a:lstStyle/>
          <a:p>
            <a:r>
              <a:rPr lang="fr-FR" b="1" dirty="0">
                <a:solidFill>
                  <a:schemeClr val="tx2"/>
                </a:solidFill>
              </a:rPr>
              <a:t>Notre solution hybride</a:t>
            </a:r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DBD461-CCB5-C20C-61C5-DF80512EA684}"/>
              </a:ext>
            </a:extLst>
          </p:cNvPr>
          <p:cNvSpPr/>
          <p:nvPr/>
        </p:nvSpPr>
        <p:spPr>
          <a:xfrm>
            <a:off x="5222" y="-7070"/>
            <a:ext cx="331836" cy="1020097"/>
          </a:xfrm>
          <a:prstGeom prst="rect">
            <a:avLst/>
          </a:prstGeom>
          <a:solidFill>
            <a:srgbClr val="1B99D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D8CC91-67E9-0A48-5B2D-E8718F79F59F}"/>
              </a:ext>
            </a:extLst>
          </p:cNvPr>
          <p:cNvSpPr/>
          <p:nvPr/>
        </p:nvSpPr>
        <p:spPr>
          <a:xfrm>
            <a:off x="5223" y="977152"/>
            <a:ext cx="12142834" cy="415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D42A13-DE52-80D8-3E87-F40740224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AC25-3DB5-4B1E-B40D-D23343B05CD0}" type="slidenum">
              <a:rPr lang="fr-FR" smtClean="0"/>
              <a:t>9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6D0ED41-5857-15AD-1F5F-76733920E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79" y="1052683"/>
            <a:ext cx="1775647" cy="1569862"/>
          </a:xfrm>
          <a:prstGeom prst="rect">
            <a:avLst/>
          </a:prstGeom>
        </p:spPr>
      </p:pic>
      <p:pic>
        <p:nvPicPr>
          <p:cNvPr id="9" name="Image 8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6B1A1988-B4E2-D9E6-BE80-D78BA835D9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90"/>
          <a:stretch/>
        </p:blipFill>
        <p:spPr>
          <a:xfrm>
            <a:off x="1829103" y="2766308"/>
            <a:ext cx="8817104" cy="38171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DCA826-FF9C-931F-0D6A-E5F046FAA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7448" y="1013027"/>
            <a:ext cx="8817104" cy="1681477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fr-FR" sz="3600" b="1" dirty="0">
                <a:solidFill>
                  <a:schemeClr val="tx2"/>
                </a:solidFill>
              </a:rPr>
              <a:t>Application basée sur notre code Python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fr-FR" sz="3600" b="1" dirty="0">
                <a:solidFill>
                  <a:schemeClr val="tx2"/>
                </a:solidFill>
              </a:rPr>
              <a:t>API GROQ Utilisation du modèle « llama-3.3-70b »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fr-FR" sz="3600" b="1" dirty="0">
                <a:solidFill>
                  <a:schemeClr val="tx2"/>
                </a:solidFill>
              </a:rPr>
              <a:t>Utilisation de l’outil de </a:t>
            </a:r>
            <a:r>
              <a:rPr lang="fr-FR" sz="3600" b="1" dirty="0" err="1">
                <a:solidFill>
                  <a:schemeClr val="tx2"/>
                </a:solidFill>
              </a:rPr>
              <a:t>Scraping</a:t>
            </a:r>
            <a:r>
              <a:rPr lang="fr-FR" sz="3600" b="1" dirty="0">
                <a:solidFill>
                  <a:schemeClr val="tx2"/>
                </a:solidFill>
              </a:rPr>
              <a:t> automatisé</a:t>
            </a:r>
          </a:p>
        </p:txBody>
      </p:sp>
      <p:pic>
        <p:nvPicPr>
          <p:cNvPr id="12" name="Image 11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5B3FF9C2-18BA-6955-9DB7-69D4FD00DC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526" y="1154588"/>
            <a:ext cx="1366051" cy="1366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723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170BE-EF1F-5219-EE70-8CB3400F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6E3899-E75E-46C4-58F9-44C5A424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8805"/>
            <a:ext cx="10515600" cy="984222"/>
          </a:xfrm>
        </p:spPr>
        <p:txBody>
          <a:bodyPr/>
          <a:lstStyle/>
          <a:p>
            <a:r>
              <a:rPr lang="fr-FR" b="1" dirty="0">
                <a:solidFill>
                  <a:schemeClr val="tx2"/>
                </a:solidFill>
              </a:rPr>
              <a:t>Freddy &amp; Franky</a:t>
            </a:r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370245-4AEF-27F6-BDBF-8504A9E22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951" y="1150284"/>
            <a:ext cx="10185849" cy="538862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fr-FR" sz="3900" b="1" dirty="0">
                <a:solidFill>
                  <a:schemeClr val="tx2"/>
                </a:solidFill>
              </a:rPr>
              <a:t>Deux Chats pour deux fonctions :</a:t>
            </a:r>
          </a:p>
          <a:p>
            <a:pPr marL="0" indent="0" algn="ctr">
              <a:lnSpc>
                <a:spcPct val="150000"/>
              </a:lnSpc>
              <a:buNone/>
            </a:pPr>
            <a:endParaRPr lang="fr-FR" sz="1700" b="1" dirty="0">
              <a:solidFill>
                <a:schemeClr val="tx2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FR" sz="3600" b="1" dirty="0">
                <a:solidFill>
                  <a:schemeClr val="tx2"/>
                </a:solidFill>
              </a:rPr>
              <a:t>Freddy : Traite la requête, cherche les mots clés et correspondances dans la BDD</a:t>
            </a:r>
          </a:p>
          <a:p>
            <a:pPr marL="0" indent="0">
              <a:lnSpc>
                <a:spcPct val="150000"/>
              </a:lnSpc>
              <a:buNone/>
            </a:pPr>
            <a:endParaRPr lang="fr-FR" sz="3600" b="1" dirty="0">
              <a:solidFill>
                <a:schemeClr val="tx2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FR" sz="3600" b="1" dirty="0">
                <a:solidFill>
                  <a:schemeClr val="tx2"/>
                </a:solidFill>
              </a:rPr>
              <a:t>Franky : Répond à l’utilisateur à partir des infos de Freddy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745ACE-030E-6251-A49C-6882134CD886}"/>
              </a:ext>
            </a:extLst>
          </p:cNvPr>
          <p:cNvSpPr/>
          <p:nvPr/>
        </p:nvSpPr>
        <p:spPr>
          <a:xfrm>
            <a:off x="5222" y="-7070"/>
            <a:ext cx="331836" cy="1020097"/>
          </a:xfrm>
          <a:prstGeom prst="rect">
            <a:avLst/>
          </a:prstGeom>
          <a:solidFill>
            <a:srgbClr val="1B99D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DB6179-0AF3-6D4C-1653-C0E26763DE96}"/>
              </a:ext>
            </a:extLst>
          </p:cNvPr>
          <p:cNvSpPr/>
          <p:nvPr/>
        </p:nvSpPr>
        <p:spPr>
          <a:xfrm>
            <a:off x="5223" y="977152"/>
            <a:ext cx="12142834" cy="415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26C53C-532F-C1E3-D04C-A2874C1C9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AC25-3DB5-4B1E-B40D-D23343B05CD0}" type="slidenum">
              <a:rPr lang="fr-FR" smtClean="0"/>
              <a:t>10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1B8C93B-584A-EB26-89E3-2E9EDA11D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29315"/>
            <a:ext cx="1215283" cy="1215283"/>
          </a:xfrm>
          <a:prstGeom prst="rect">
            <a:avLst/>
          </a:prstGeom>
        </p:spPr>
      </p:pic>
      <p:pic>
        <p:nvPicPr>
          <p:cNvPr id="10" name="Image 9" descr="Une image contenant chat, clipart, dessin humoristique, illustration&#10;&#10;Le contenu généré par l’IA peut être incorrect.">
            <a:extLst>
              <a:ext uri="{FF2B5EF4-FFF2-40B4-BE49-F238E27FC236}">
                <a16:creationId xmlns:a16="http://schemas.microsoft.com/office/drawing/2014/main" id="{3BB370B0-3B75-3FF8-1CE4-1633FA69D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6" y="5015918"/>
            <a:ext cx="1215283" cy="121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385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0EB4A-2099-2553-FFF3-988436B14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4C341A-2F0C-3C84-065B-31698FFAA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8805"/>
            <a:ext cx="10515600" cy="984222"/>
          </a:xfrm>
        </p:spPr>
        <p:txBody>
          <a:bodyPr/>
          <a:lstStyle/>
          <a:p>
            <a:r>
              <a:rPr lang="fr-FR" b="1" dirty="0">
                <a:solidFill>
                  <a:schemeClr val="tx2"/>
                </a:solidFill>
              </a:rPr>
              <a:t>Démo technique</a:t>
            </a:r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7CB90D-4B68-EAA1-4F93-B8AF571CD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3071292"/>
            <a:ext cx="10820400" cy="34971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fr-FR" sz="3600" b="1" dirty="0">
                <a:solidFill>
                  <a:schemeClr val="tx2"/>
                </a:solidFill>
              </a:rPr>
              <a:t>https://</a:t>
            </a:r>
            <a:r>
              <a:rPr lang="fr-FR" sz="3600" b="1" dirty="0" err="1">
                <a:solidFill>
                  <a:schemeClr val="tx2"/>
                </a:solidFill>
              </a:rPr>
              <a:t>github.com</a:t>
            </a:r>
            <a:r>
              <a:rPr lang="fr-FR" sz="3600" b="1" dirty="0">
                <a:solidFill>
                  <a:schemeClr val="tx2"/>
                </a:solidFill>
              </a:rPr>
              <a:t>/xXNzodu13xX/</a:t>
            </a:r>
            <a:r>
              <a:rPr lang="fr-FR" sz="3600" b="1" dirty="0" err="1">
                <a:solidFill>
                  <a:schemeClr val="tx2"/>
                </a:solidFill>
              </a:rPr>
              <a:t>LesChats.git</a:t>
            </a:r>
            <a:endParaRPr lang="fr-FR" sz="3600" b="1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BAA147-E319-6157-48A2-77262AF33EA9}"/>
              </a:ext>
            </a:extLst>
          </p:cNvPr>
          <p:cNvSpPr/>
          <p:nvPr/>
        </p:nvSpPr>
        <p:spPr>
          <a:xfrm>
            <a:off x="5222" y="-7070"/>
            <a:ext cx="331836" cy="1020097"/>
          </a:xfrm>
          <a:prstGeom prst="rect">
            <a:avLst/>
          </a:prstGeom>
          <a:solidFill>
            <a:srgbClr val="1B99D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97867A-442A-02E5-69FE-480C9C7625E4}"/>
              </a:ext>
            </a:extLst>
          </p:cNvPr>
          <p:cNvSpPr/>
          <p:nvPr/>
        </p:nvSpPr>
        <p:spPr>
          <a:xfrm>
            <a:off x="5223" y="977152"/>
            <a:ext cx="12142834" cy="415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3B08F3-E446-0E2A-992D-A1AF89BBD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AC25-3DB5-4B1E-B40D-D23343B05CD0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3429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61B44-0551-0938-2951-7F2C89D1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207CC0-90D2-09A2-5D1C-931EA8788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8805"/>
            <a:ext cx="10515600" cy="984222"/>
          </a:xfrm>
        </p:spPr>
        <p:txBody>
          <a:bodyPr/>
          <a:lstStyle/>
          <a:p>
            <a:r>
              <a:rPr lang="fr-FR" b="1" dirty="0">
                <a:solidFill>
                  <a:schemeClr val="tx2"/>
                </a:solidFill>
              </a:rPr>
              <a:t>Conclusion</a:t>
            </a:r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FEE5B7-8CEC-E7DE-0C1A-428ED98C701D}"/>
              </a:ext>
            </a:extLst>
          </p:cNvPr>
          <p:cNvSpPr/>
          <p:nvPr/>
        </p:nvSpPr>
        <p:spPr>
          <a:xfrm>
            <a:off x="5222" y="-7070"/>
            <a:ext cx="331836" cy="1020097"/>
          </a:xfrm>
          <a:prstGeom prst="rect">
            <a:avLst/>
          </a:prstGeom>
          <a:solidFill>
            <a:srgbClr val="1B99D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8A5EFA-BF5C-EFB8-5754-C0B6629AA60F}"/>
              </a:ext>
            </a:extLst>
          </p:cNvPr>
          <p:cNvSpPr/>
          <p:nvPr/>
        </p:nvSpPr>
        <p:spPr>
          <a:xfrm>
            <a:off x="5223" y="977152"/>
            <a:ext cx="12142834" cy="415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96C240-0A31-6215-224C-9EBB7067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AC25-3DB5-4B1E-B40D-D23343B05CD0}" type="slidenum">
              <a:rPr lang="fr-FR" smtClean="0"/>
              <a:t>12</a:t>
            </a:fld>
            <a:endParaRPr lang="fr-FR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4BFC765-D216-12EF-05FA-FD375F91B58D}"/>
              </a:ext>
            </a:extLst>
          </p:cNvPr>
          <p:cNvGrpSpPr/>
          <p:nvPr/>
        </p:nvGrpSpPr>
        <p:grpSpPr>
          <a:xfrm>
            <a:off x="7402656" y="4695539"/>
            <a:ext cx="1871230" cy="1861705"/>
            <a:chOff x="7402656" y="4695539"/>
            <a:chExt cx="1871230" cy="1861705"/>
          </a:xfrm>
        </p:grpSpPr>
        <p:pic>
          <p:nvPicPr>
            <p:cNvPr id="16" name="Image 16">
              <a:extLst>
                <a:ext uri="{FF2B5EF4-FFF2-40B4-BE49-F238E27FC236}">
                  <a16:creationId xmlns:a16="http://schemas.microsoft.com/office/drawing/2014/main" id="{F3F17CD0-EB93-B583-9222-A64323026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402656" y="4695539"/>
              <a:ext cx="1871230" cy="1861705"/>
            </a:xfrm>
            <a:prstGeom prst="rect">
              <a:avLst/>
            </a:prstGeom>
          </p:spPr>
        </p:pic>
        <p:pic>
          <p:nvPicPr>
            <p:cNvPr id="26" name="Image 26">
              <a:extLst>
                <a:ext uri="{FF2B5EF4-FFF2-40B4-BE49-F238E27FC236}">
                  <a16:creationId xmlns:a16="http://schemas.microsoft.com/office/drawing/2014/main" id="{8D1113F4-94AE-6443-2BBB-84CE1FBF7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3029" y="4886047"/>
              <a:ext cx="1228493" cy="1219200"/>
            </a:xfrm>
            <a:prstGeom prst="rect">
              <a:avLst/>
            </a:prstGeom>
          </p:spPr>
        </p:pic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057CF41A-94C0-027F-7CED-4339480E5487}"/>
                </a:ext>
              </a:extLst>
            </p:cNvPr>
            <p:cNvSpPr txBox="1"/>
            <p:nvPr/>
          </p:nvSpPr>
          <p:spPr>
            <a:xfrm>
              <a:off x="7486747" y="5971240"/>
              <a:ext cx="17030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i="0" dirty="0">
                  <a:solidFill>
                    <a:schemeClr val="bg1"/>
                  </a:solidFill>
                  <a:effectLst/>
                </a:rPr>
                <a:t>Planification</a:t>
              </a:r>
              <a:endParaRPr lang="fr-FR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FCF7995-0C02-BCC2-1FD9-B018A2C251E4}"/>
              </a:ext>
            </a:extLst>
          </p:cNvPr>
          <p:cNvGrpSpPr/>
          <p:nvPr/>
        </p:nvGrpSpPr>
        <p:grpSpPr>
          <a:xfrm>
            <a:off x="8872256" y="3869896"/>
            <a:ext cx="2119273" cy="1989456"/>
            <a:chOff x="8872256" y="3869896"/>
            <a:chExt cx="2119273" cy="1989456"/>
          </a:xfrm>
        </p:grpSpPr>
        <p:pic>
          <p:nvPicPr>
            <p:cNvPr id="9" name="Image 11">
              <a:extLst>
                <a:ext uri="{FF2B5EF4-FFF2-40B4-BE49-F238E27FC236}">
                  <a16:creationId xmlns:a16="http://schemas.microsoft.com/office/drawing/2014/main" id="{4F9E678F-92E0-4595-BC75-0A4BB3E6F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8930788" y="3869896"/>
              <a:ext cx="1981200" cy="1989456"/>
            </a:xfrm>
            <a:prstGeom prst="rect">
              <a:avLst/>
            </a:prstGeom>
          </p:spPr>
        </p:pic>
        <p:pic>
          <p:nvPicPr>
            <p:cNvPr id="12" name="Image 11" descr="Une image contenant noir, obscurité&#10;&#10;Description générée automatiquement">
              <a:extLst>
                <a:ext uri="{FF2B5EF4-FFF2-40B4-BE49-F238E27FC236}">
                  <a16:creationId xmlns:a16="http://schemas.microsoft.com/office/drawing/2014/main" id="{DDFADB57-D6A5-DA9B-E1F3-EEFAAD530B5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67924" y="4163871"/>
              <a:ext cx="1331776" cy="1331776"/>
            </a:xfrm>
            <a:prstGeom prst="rect">
              <a:avLst/>
            </a:prstGeom>
          </p:spPr>
        </p:pic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CBA12FD2-7374-2B5F-C969-DC89D7A43931}"/>
                </a:ext>
              </a:extLst>
            </p:cNvPr>
            <p:cNvSpPr txBox="1"/>
            <p:nvPr/>
          </p:nvSpPr>
          <p:spPr>
            <a:xfrm>
              <a:off x="8872256" y="5048983"/>
              <a:ext cx="211927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i="0" dirty="0">
                  <a:solidFill>
                    <a:schemeClr val="bg1"/>
                  </a:solidFill>
                  <a:effectLst/>
                </a:rPr>
                <a:t>Rédaction de</a:t>
              </a:r>
            </a:p>
            <a:p>
              <a:pPr algn="ctr"/>
              <a:r>
                <a:rPr lang="fr-FR" b="1" dirty="0">
                  <a:solidFill>
                    <a:schemeClr val="bg1"/>
                  </a:solidFill>
                </a:rPr>
                <a:t>Documents</a:t>
              </a:r>
            </a:p>
          </p:txBody>
        </p:sp>
      </p:grpSp>
      <p:sp>
        <p:nvSpPr>
          <p:cNvPr id="10" name="ZoneTexte 9">
            <a:extLst>
              <a:ext uri="{FF2B5EF4-FFF2-40B4-BE49-F238E27FC236}">
                <a16:creationId xmlns:a16="http://schemas.microsoft.com/office/drawing/2014/main" id="{67E28D94-13EE-2F9E-7152-AF57115BB781}"/>
              </a:ext>
            </a:extLst>
          </p:cNvPr>
          <p:cNvSpPr txBox="1"/>
          <p:nvPr/>
        </p:nvSpPr>
        <p:spPr>
          <a:xfrm>
            <a:off x="0" y="6515243"/>
            <a:ext cx="102258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i="1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Sources visuelles : </a:t>
            </a:r>
            <a:r>
              <a:rPr lang="fr-FR" sz="1400" i="1" kern="12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Uniconlabs</a:t>
            </a:r>
            <a:r>
              <a:rPr lang="fr-FR" sz="1400" i="1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, flaticon</a:t>
            </a:r>
            <a:r>
              <a:rPr lang="fr-FR" sz="1400" i="1" dirty="0">
                <a:solidFill>
                  <a:srgbClr val="000000"/>
                </a:solidFill>
                <a:latin typeface="Century Gothic" panose="020B0502020202020204" pitchFamily="34" charset="0"/>
              </a:rPr>
              <a:t>.com ; </a:t>
            </a:r>
            <a:r>
              <a:rPr lang="fr-FR" sz="1400" i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IconBaandar</a:t>
            </a:r>
            <a:r>
              <a:rPr lang="fr-FR" sz="1400" i="1" dirty="0">
                <a:solidFill>
                  <a:srgbClr val="000000"/>
                </a:solidFill>
                <a:latin typeface="Century Gothic" panose="020B0502020202020204" pitchFamily="34" charset="0"/>
              </a:rPr>
              <a:t>, flaticon.com  </a:t>
            </a:r>
            <a:endParaRPr lang="fr-FR" sz="1400" dirty="0">
              <a:effectLst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626A6ED-4171-3DB2-804E-A8C96F7C36F0}"/>
              </a:ext>
            </a:extLst>
          </p:cNvPr>
          <p:cNvGrpSpPr/>
          <p:nvPr/>
        </p:nvGrpSpPr>
        <p:grpSpPr>
          <a:xfrm>
            <a:off x="3693969" y="1304059"/>
            <a:ext cx="4596245" cy="4596245"/>
            <a:chOff x="3693969" y="1304059"/>
            <a:chExt cx="4596245" cy="4596245"/>
          </a:xfrm>
        </p:grpSpPr>
        <p:pic>
          <p:nvPicPr>
            <p:cNvPr id="11" name="Image 10" descr="Une image contenant bulle, microscope&#10;&#10;Description générée automatiquement">
              <a:extLst>
                <a:ext uri="{FF2B5EF4-FFF2-40B4-BE49-F238E27FC236}">
                  <a16:creationId xmlns:a16="http://schemas.microsoft.com/office/drawing/2014/main" id="{E21BCD90-1E85-EEF7-E0AB-7C9BE0CFD53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93969" y="1304059"/>
              <a:ext cx="4596245" cy="4596245"/>
            </a:xfrm>
            <a:prstGeom prst="rect">
              <a:avLst/>
            </a:prstGeom>
          </p:spPr>
        </p:pic>
        <p:pic>
          <p:nvPicPr>
            <p:cNvPr id="20" name="Image 20">
              <a:extLst>
                <a:ext uri="{FF2B5EF4-FFF2-40B4-BE49-F238E27FC236}">
                  <a16:creationId xmlns:a16="http://schemas.microsoft.com/office/drawing/2014/main" id="{DC0B3B66-EAB7-41F7-5986-C1D4121FD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08428" y="2113974"/>
              <a:ext cx="2743200" cy="2743200"/>
            </a:xfrm>
            <a:prstGeom prst="rect">
              <a:avLst/>
            </a:prstGeom>
          </p:spPr>
        </p:pic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3CD498F9-8141-93F7-A500-E684A0A8F101}"/>
                </a:ext>
              </a:extLst>
            </p:cNvPr>
            <p:cNvSpPr txBox="1"/>
            <p:nvPr/>
          </p:nvSpPr>
          <p:spPr>
            <a:xfrm>
              <a:off x="4828225" y="4787373"/>
              <a:ext cx="232773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800" b="1" i="0" dirty="0">
                  <a:solidFill>
                    <a:schemeClr val="bg1"/>
                  </a:solidFill>
                  <a:effectLst/>
                </a:rPr>
                <a:t>Polyvalence</a:t>
              </a:r>
              <a:endParaRPr lang="fr-FR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Group 6">
            <a:extLst>
              <a:ext uri="{FF2B5EF4-FFF2-40B4-BE49-F238E27FC236}">
                <a16:creationId xmlns:a16="http://schemas.microsoft.com/office/drawing/2014/main" id="{87DE91C2-9C0B-E764-4164-4DD06C4D1319}"/>
              </a:ext>
            </a:extLst>
          </p:cNvPr>
          <p:cNvGrpSpPr/>
          <p:nvPr/>
        </p:nvGrpSpPr>
        <p:grpSpPr>
          <a:xfrm>
            <a:off x="2446195" y="1225261"/>
            <a:ext cx="2213786" cy="2086841"/>
            <a:chOff x="2446195" y="1225261"/>
            <a:chExt cx="2213786" cy="2086841"/>
          </a:xfrm>
        </p:grpSpPr>
        <p:grpSp>
          <p:nvGrpSpPr>
            <p:cNvPr id="14" name="Group 2">
              <a:extLst>
                <a:ext uri="{FF2B5EF4-FFF2-40B4-BE49-F238E27FC236}">
                  <a16:creationId xmlns:a16="http://schemas.microsoft.com/office/drawing/2014/main" id="{BA769644-B293-D0F8-D28B-7291D977D931}"/>
                </a:ext>
              </a:extLst>
            </p:cNvPr>
            <p:cNvGrpSpPr/>
            <p:nvPr/>
          </p:nvGrpSpPr>
          <p:grpSpPr>
            <a:xfrm>
              <a:off x="2446195" y="1225261"/>
              <a:ext cx="2078181" cy="2086841"/>
              <a:chOff x="2446195" y="1225261"/>
              <a:chExt cx="2078181" cy="2086841"/>
            </a:xfrm>
          </p:grpSpPr>
          <p:pic>
            <p:nvPicPr>
              <p:cNvPr id="15" name="Image 11">
                <a:extLst>
                  <a:ext uri="{FF2B5EF4-FFF2-40B4-BE49-F238E27FC236}">
                    <a16:creationId xmlns:a16="http://schemas.microsoft.com/office/drawing/2014/main" id="{C6250E15-9ED0-8941-48F3-BCC2307FD9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46195" y="1225261"/>
                <a:ext cx="2078181" cy="2086841"/>
              </a:xfrm>
              <a:prstGeom prst="rect">
                <a:avLst/>
              </a:prstGeom>
            </p:spPr>
          </p:pic>
          <p:pic>
            <p:nvPicPr>
              <p:cNvPr id="22" name="Image 22">
                <a:extLst>
                  <a:ext uri="{FF2B5EF4-FFF2-40B4-BE49-F238E27FC236}">
                    <a16:creationId xmlns:a16="http://schemas.microsoft.com/office/drawing/2014/main" id="{F9E8EBB9-9161-E922-8B1D-E343F1951B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46056" y="1665112"/>
                <a:ext cx="1135567" cy="1126274"/>
              </a:xfrm>
              <a:prstGeom prst="rect">
                <a:avLst/>
              </a:prstGeom>
            </p:spPr>
          </p:pic>
        </p:grp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EA38595C-343B-45A0-D09E-B1369335AE70}"/>
                </a:ext>
              </a:extLst>
            </p:cNvPr>
            <p:cNvSpPr txBox="1"/>
            <p:nvPr/>
          </p:nvSpPr>
          <p:spPr>
            <a:xfrm>
              <a:off x="2899932" y="2748364"/>
              <a:ext cx="176004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i="0" dirty="0">
                  <a:solidFill>
                    <a:schemeClr val="bg1"/>
                  </a:solidFill>
                  <a:effectLst/>
                </a:rPr>
                <a:t>Résultats</a:t>
              </a:r>
              <a:endParaRPr lang="fr-FR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B5DA060-44CD-F414-F856-F5B88C95B350}"/>
              </a:ext>
            </a:extLst>
          </p:cNvPr>
          <p:cNvGrpSpPr/>
          <p:nvPr/>
        </p:nvGrpSpPr>
        <p:grpSpPr>
          <a:xfrm>
            <a:off x="2190233" y="4150653"/>
            <a:ext cx="2132734" cy="1982066"/>
            <a:chOff x="2190233" y="4150653"/>
            <a:chExt cx="2132734" cy="1982066"/>
          </a:xfrm>
        </p:grpSpPr>
        <p:pic>
          <p:nvPicPr>
            <p:cNvPr id="17" name="Image 14">
              <a:extLst>
                <a:ext uri="{FF2B5EF4-FFF2-40B4-BE49-F238E27FC236}">
                  <a16:creationId xmlns:a16="http://schemas.microsoft.com/office/drawing/2014/main" id="{07E4C8F9-4BE6-3E2C-1AAD-5D50D8F26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41767" y="4150653"/>
              <a:ext cx="1981200" cy="1982066"/>
            </a:xfrm>
            <a:prstGeom prst="rect">
              <a:avLst/>
            </a:prstGeom>
          </p:spPr>
        </p:pic>
        <p:pic>
          <p:nvPicPr>
            <p:cNvPr id="24" name="Image 24">
              <a:extLst>
                <a:ext uri="{FF2B5EF4-FFF2-40B4-BE49-F238E27FC236}">
                  <a16:creationId xmlns:a16="http://schemas.microsoft.com/office/drawing/2014/main" id="{4863BDA2-DED6-0D78-F9D3-81B1F73AE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607875" y="4424481"/>
              <a:ext cx="1432932" cy="1432932"/>
            </a:xfrm>
            <a:prstGeom prst="rect">
              <a:avLst/>
            </a:prstGeom>
          </p:spPr>
        </p:pic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C5591A48-F420-8653-CA21-A91F8B7EEDAF}"/>
                </a:ext>
              </a:extLst>
            </p:cNvPr>
            <p:cNvSpPr txBox="1"/>
            <p:nvPr/>
          </p:nvSpPr>
          <p:spPr>
            <a:xfrm>
              <a:off x="2190233" y="5645156"/>
              <a:ext cx="198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/>
              <a:r>
                <a:rPr lang="fr-FR" b="1">
                  <a:solidFill>
                    <a:schemeClr val="bg1"/>
                  </a:solidFill>
                </a:rPr>
                <a:t>Autonomie </a:t>
              </a:r>
              <a:endParaRPr lang="fr-FR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DCA7F78-DF42-0D6D-4800-DED82758C8E2}"/>
              </a:ext>
            </a:extLst>
          </p:cNvPr>
          <p:cNvGrpSpPr/>
          <p:nvPr/>
        </p:nvGrpSpPr>
        <p:grpSpPr>
          <a:xfrm>
            <a:off x="545481" y="2043112"/>
            <a:ext cx="2223654" cy="2214195"/>
            <a:chOff x="545481" y="2043112"/>
            <a:chExt cx="2223654" cy="2214195"/>
          </a:xfrm>
        </p:grpSpPr>
        <p:pic>
          <p:nvPicPr>
            <p:cNvPr id="21" name="Image 13">
              <a:extLst>
                <a:ext uri="{FF2B5EF4-FFF2-40B4-BE49-F238E27FC236}">
                  <a16:creationId xmlns:a16="http://schemas.microsoft.com/office/drawing/2014/main" id="{93FBDE50-3549-73BC-2348-9D1FC5F94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45481" y="2043112"/>
              <a:ext cx="2223654" cy="2214195"/>
            </a:xfrm>
            <a:prstGeom prst="rect">
              <a:avLst/>
            </a:prstGeom>
          </p:spPr>
        </p:pic>
        <p:pic>
          <p:nvPicPr>
            <p:cNvPr id="27" name="Image 26" descr="Une image contenant noir, obscurité&#10;&#10;Description générée automatiquement">
              <a:extLst>
                <a:ext uri="{FF2B5EF4-FFF2-40B4-BE49-F238E27FC236}">
                  <a16:creationId xmlns:a16="http://schemas.microsoft.com/office/drawing/2014/main" id="{664828D4-17D6-E3C9-AA7A-6B852AA67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106" y="2300963"/>
              <a:ext cx="1559189" cy="1559189"/>
            </a:xfrm>
            <a:prstGeom prst="rect">
              <a:avLst/>
            </a:prstGeom>
          </p:spPr>
        </p:pic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036C1DA4-235D-7A3C-807A-14A40793B6E6}"/>
                </a:ext>
              </a:extLst>
            </p:cNvPr>
            <p:cNvSpPr txBox="1"/>
            <p:nvPr/>
          </p:nvSpPr>
          <p:spPr>
            <a:xfrm>
              <a:off x="909360" y="3500564"/>
              <a:ext cx="14958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i="0" dirty="0">
                  <a:solidFill>
                    <a:schemeClr val="bg1"/>
                  </a:solidFill>
                  <a:effectLst/>
                </a:rPr>
                <a:t>Gestion de Conflits</a:t>
              </a:r>
              <a:endParaRPr lang="fr-FR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8F6967E-3CB7-3498-8547-278458555D15}"/>
              </a:ext>
            </a:extLst>
          </p:cNvPr>
          <p:cNvGrpSpPr/>
          <p:nvPr/>
        </p:nvGrpSpPr>
        <p:grpSpPr>
          <a:xfrm>
            <a:off x="9367924" y="2092989"/>
            <a:ext cx="1965614" cy="1975139"/>
            <a:chOff x="9367924" y="2092989"/>
            <a:chExt cx="1965614" cy="1975139"/>
          </a:xfrm>
        </p:grpSpPr>
        <p:pic>
          <p:nvPicPr>
            <p:cNvPr id="29" name="Image 17">
              <a:extLst>
                <a:ext uri="{FF2B5EF4-FFF2-40B4-BE49-F238E27FC236}">
                  <a16:creationId xmlns:a16="http://schemas.microsoft.com/office/drawing/2014/main" id="{AF440B9F-53E5-D6B1-4AFC-8ACC83F0DA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367924" y="2092989"/>
              <a:ext cx="1965614" cy="1975139"/>
            </a:xfrm>
            <a:prstGeom prst="rect">
              <a:avLst/>
            </a:prstGeom>
          </p:spPr>
        </p:pic>
        <p:pic>
          <p:nvPicPr>
            <p:cNvPr id="32" name="Image 27">
              <a:extLst>
                <a:ext uri="{FF2B5EF4-FFF2-40B4-BE49-F238E27FC236}">
                  <a16:creationId xmlns:a16="http://schemas.microsoft.com/office/drawing/2014/main" id="{D7947D17-B859-CE7C-3571-78605791B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751923" y="2395653"/>
              <a:ext cx="1200615" cy="1200615"/>
            </a:xfrm>
            <a:prstGeom prst="rect">
              <a:avLst/>
            </a:prstGeom>
          </p:spPr>
        </p:pic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35463664-1AD7-B663-72CD-FC8C155CBB0F}"/>
                </a:ext>
              </a:extLst>
            </p:cNvPr>
            <p:cNvSpPr txBox="1"/>
            <p:nvPr/>
          </p:nvSpPr>
          <p:spPr>
            <a:xfrm>
              <a:off x="9561000" y="3483637"/>
              <a:ext cx="166339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i="0" dirty="0">
                  <a:solidFill>
                    <a:schemeClr val="bg1"/>
                  </a:solidFill>
                  <a:effectLst/>
                  <a:latin typeface="+mj-lt"/>
                </a:rPr>
                <a:t>Optimisation</a:t>
              </a:r>
              <a:r>
                <a:rPr lang="fr-FR" sz="1600" b="1" i="0" dirty="0">
                  <a:solidFill>
                    <a:schemeClr val="bg1"/>
                  </a:solidFill>
                  <a:effectLst/>
                  <a:latin typeface="+mj-lt"/>
                </a:rPr>
                <a:t> </a:t>
              </a:r>
              <a:endParaRPr lang="fr-FR" sz="1600" b="1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37" name="Group 28">
            <a:extLst>
              <a:ext uri="{FF2B5EF4-FFF2-40B4-BE49-F238E27FC236}">
                <a16:creationId xmlns:a16="http://schemas.microsoft.com/office/drawing/2014/main" id="{A773AC1A-8DC4-A9FE-DD78-42E442C4502E}"/>
              </a:ext>
            </a:extLst>
          </p:cNvPr>
          <p:cNvGrpSpPr/>
          <p:nvPr/>
        </p:nvGrpSpPr>
        <p:grpSpPr>
          <a:xfrm>
            <a:off x="7469332" y="1072028"/>
            <a:ext cx="2524502" cy="2246105"/>
            <a:chOff x="7469332" y="1072028"/>
            <a:chExt cx="2524502" cy="2246105"/>
          </a:xfrm>
        </p:grpSpPr>
        <p:pic>
          <p:nvPicPr>
            <p:cNvPr id="39" name="Image 15">
              <a:extLst>
                <a:ext uri="{FF2B5EF4-FFF2-40B4-BE49-F238E27FC236}">
                  <a16:creationId xmlns:a16="http://schemas.microsoft.com/office/drawing/2014/main" id="{D489535D-C1FB-9FE8-8B48-DA2995053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469332" y="1072028"/>
              <a:ext cx="2405496" cy="2246105"/>
            </a:xfrm>
            <a:prstGeom prst="rect">
              <a:avLst/>
            </a:prstGeom>
          </p:spPr>
        </p:pic>
        <p:pic>
          <p:nvPicPr>
            <p:cNvPr id="40" name="Image 21">
              <a:extLst>
                <a:ext uri="{FF2B5EF4-FFF2-40B4-BE49-F238E27FC236}">
                  <a16:creationId xmlns:a16="http://schemas.microsoft.com/office/drawing/2014/main" id="{5617E4E2-5349-97F3-8BCB-AE0F2BD69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7702078" y="1200388"/>
              <a:ext cx="1934737" cy="1916152"/>
            </a:xfrm>
            <a:prstGeom prst="rect">
              <a:avLst/>
            </a:prstGeom>
          </p:spPr>
        </p:pic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6FE77F32-2EB3-F03C-39E1-03E8E3784B98}"/>
                </a:ext>
              </a:extLst>
            </p:cNvPr>
            <p:cNvSpPr txBox="1"/>
            <p:nvPr/>
          </p:nvSpPr>
          <p:spPr>
            <a:xfrm>
              <a:off x="7711539" y="2689182"/>
              <a:ext cx="22822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i="0" dirty="0">
                  <a:solidFill>
                    <a:schemeClr val="bg1"/>
                  </a:solidFill>
                  <a:effectLst/>
                </a:rPr>
                <a:t>Travail d'équipe</a:t>
              </a:r>
              <a:endParaRPr lang="fr-FR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6629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bc50e76-c12c-479a-9d9d-7cf4247a63e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C42932908CA64A9569797A8B9A49F1" ma:contentTypeVersion="8" ma:contentTypeDescription="Crée un document." ma:contentTypeScope="" ma:versionID="bebdcac3f4517be5cfd8882cc23aae89">
  <xsd:schema xmlns:xsd="http://www.w3.org/2001/XMLSchema" xmlns:xs="http://www.w3.org/2001/XMLSchema" xmlns:p="http://schemas.microsoft.com/office/2006/metadata/properties" xmlns:ns3="1bc50e76-c12c-479a-9d9d-7cf4247a63e9" targetNamespace="http://schemas.microsoft.com/office/2006/metadata/properties" ma:root="true" ma:fieldsID="f53bba4a6802cfc83407027cdcfb27c3" ns3:_="">
    <xsd:import namespace="1bc50e76-c12c-479a-9d9d-7cf4247a63e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c50e76-c12c-479a-9d9d-7cf4247a63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FA7E60-E7E1-4834-817B-CC2825BD927D}">
  <ds:schemaRefs>
    <ds:schemaRef ds:uri="http://www.w3.org/XML/1998/namespace"/>
    <ds:schemaRef ds:uri="http://purl.org/dc/elements/1.1/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1bc50e76-c12c-479a-9d9d-7cf4247a63e9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A18EC2D-B11A-40C8-A06E-63665304EA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F67AAB-ED2A-4B34-808F-AE0F9D1B76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c50e76-c12c-479a-9d9d-7cf4247a63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350</Words>
  <Application>Microsoft Office PowerPoint</Application>
  <PresentationFormat>Grand écran</PresentationFormat>
  <Paragraphs>72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Century Gothic</vt:lpstr>
      <vt:lpstr>Wingdings</vt:lpstr>
      <vt:lpstr>Thème Office</vt:lpstr>
      <vt:lpstr>Présentation PowerPoint</vt:lpstr>
      <vt:lpstr>Sommaire</vt:lpstr>
      <vt:lpstr>Introduction aux Large Language Model</vt:lpstr>
      <vt:lpstr>Limites des LLM et solution RAG</vt:lpstr>
      <vt:lpstr>Le Besoin pour SeaTech</vt:lpstr>
      <vt:lpstr> Deux approches pour un Chatbot</vt:lpstr>
      <vt:lpstr>Approche Full Python avec Flask</vt:lpstr>
      <vt:lpstr>Approche Streamlit et Firecrawl</vt:lpstr>
      <vt:lpstr>Notre solution hybride</vt:lpstr>
      <vt:lpstr>Freddy &amp; Franky</vt:lpstr>
      <vt:lpstr>Démo technique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Orlando</dc:creator>
  <cp:lastModifiedBy>Victor Orlando</cp:lastModifiedBy>
  <cp:revision>11</cp:revision>
  <dcterms:created xsi:type="dcterms:W3CDTF">2025-03-25T10:36:57Z</dcterms:created>
  <dcterms:modified xsi:type="dcterms:W3CDTF">2025-03-25T13:08:14Z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0x01010072C42932908CA64A9569797A8B9A49F1</vt:lpwstr>
  </property>
</Properties>
</file>