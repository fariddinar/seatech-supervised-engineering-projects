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Nobile" panose="020B0604020202020204" charset="0"/>
      <p:regular r:id="rId15"/>
    </p:embeddedFont>
    <p:embeddedFont>
      <p:font typeface="Alexandria" panose="020B0604020202020204" charset="-78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3695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435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88" y="1453515"/>
            <a:ext cx="4919305" cy="532257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23196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Le Chat by Seatech</a:t>
            </a:r>
            <a:endParaRPr lang="en-US" sz="4450" dirty="0"/>
          </a:p>
        </p:txBody>
      </p:sp>
      <p:sp>
        <p:nvSpPr>
          <p:cNvPr id="5" name="Text 1"/>
          <p:cNvSpPr/>
          <p:nvPr/>
        </p:nvSpPr>
        <p:spPr>
          <a:xfrm>
            <a:off x="6280190" y="336863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Projet de fin d'étude : réalisation d'un chatbot pour le site internet de l'école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6280190" y="436649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280190" y="4349591"/>
            <a:ext cx="2302137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par Antonin </a:t>
            </a:r>
            <a:r>
              <a:rPr lang="en-US" sz="2200" b="1" dirty="0" smtClean="0">
                <a:solidFill>
                  <a:srgbClr val="404155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LARVOR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6280190" y="50015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Tuteur : Farid DINAR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6280190" y="5619631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27 février 2025</a:t>
            </a:r>
            <a:endParaRPr 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14181511" y="7481454"/>
            <a:ext cx="29046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200" dirty="0" smtClean="0">
                <a:latin typeface="Alexandria" panose="020B0604020202020204" charset="-78"/>
                <a:cs typeface="Alexandria" panose="020B0604020202020204" charset="-78"/>
              </a:rPr>
              <a:t>1</a:t>
            </a:r>
            <a:endParaRPr lang="fr-FR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9493"/>
            <a:ext cx="65349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Plan de la Présentation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4695944"/>
            <a:ext cx="13042821" cy="3048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4" name="Shape 2"/>
          <p:cNvSpPr/>
          <p:nvPr/>
        </p:nvSpPr>
        <p:spPr>
          <a:xfrm>
            <a:off x="2876669" y="3902154"/>
            <a:ext cx="30480" cy="79379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5" name="Shape 3"/>
          <p:cNvSpPr/>
          <p:nvPr/>
        </p:nvSpPr>
        <p:spPr>
          <a:xfrm>
            <a:off x="2636758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28092" y="4525804"/>
            <a:ext cx="12763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474351" y="28219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0604" y="331231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Présentation du sujet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088255" y="4695944"/>
            <a:ext cx="30480" cy="79379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10" name="Shape 8"/>
          <p:cNvSpPr/>
          <p:nvPr/>
        </p:nvSpPr>
        <p:spPr>
          <a:xfrm>
            <a:off x="4848344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03959" y="4525804"/>
            <a:ext cx="19907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3685937" y="5716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Systèmes de RAG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32190" y="6207085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Explication détaillée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299841" y="3902154"/>
            <a:ext cx="30480" cy="79379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15" name="Shape 13"/>
          <p:cNvSpPr/>
          <p:nvPr/>
        </p:nvSpPr>
        <p:spPr>
          <a:xfrm>
            <a:off x="7059930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14830" y="4525804"/>
            <a:ext cx="200382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3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5897523" y="28219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Chatbot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3776" y="331231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Démonstration et fonctionnalités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9511427" y="4695944"/>
            <a:ext cx="30480" cy="79379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71516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25107" y="4525804"/>
            <a:ext cx="20312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4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8109109" y="57166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Autres Aspects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55362" y="6207085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11723013" y="3902154"/>
            <a:ext cx="30480" cy="793790"/>
          </a:xfrm>
          <a:prstGeom prst="roundRect">
            <a:avLst>
              <a:gd name="adj" fmla="val 312558"/>
            </a:avLst>
          </a:prstGeom>
          <a:solidFill>
            <a:srgbClr val="B8C3DF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83102" y="444079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633121" y="4525804"/>
            <a:ext cx="21026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5</a:t>
            </a:r>
            <a:endParaRPr lang="en-US" sz="2650" dirty="0"/>
          </a:p>
        </p:txBody>
      </p:sp>
      <p:sp>
        <p:nvSpPr>
          <p:cNvPr id="27" name="Text 25"/>
          <p:cNvSpPr/>
          <p:nvPr/>
        </p:nvSpPr>
        <p:spPr>
          <a:xfrm>
            <a:off x="10320695" y="28219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866948" y="3312319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9" name="TextBox 28"/>
          <p:cNvSpPr txBox="1"/>
          <p:nvPr/>
        </p:nvSpPr>
        <p:spPr>
          <a:xfrm>
            <a:off x="14164886" y="7481454"/>
            <a:ext cx="3497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200" dirty="0" smtClean="0">
                <a:latin typeface="Alexandria" panose="020B0604020202020204" charset="-78"/>
                <a:cs typeface="Alexandria" panose="020B0604020202020204" charset="-78"/>
              </a:rPr>
              <a:t>2</a:t>
            </a:r>
            <a:endParaRPr lang="fr-FR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43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10076"/>
            <a:ext cx="44024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C'est quoi un système de RAG 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9122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 err="1" smtClean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Associe</a:t>
            </a:r>
            <a:r>
              <a:rPr lang="en-US" sz="1750" dirty="0" smtClean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LLM et bases de connaissances externes pour des réponses précises et contextuelles.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963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Intègre continuellement de nouvelles informations.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510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Motivation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309122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Expérience acquise avec les systèmes de RAG lors de mon stage de deuxième année.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89632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Opportunité de perfectionnement avant mon stage de fin d'étude dans le domaine des LLM et des systèmes de RAG.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5319474"/>
            <a:ext cx="13042821" cy="1675805"/>
          </a:xfrm>
          <a:prstGeom prst="roundRect">
            <a:avLst>
              <a:gd name="adj" fmla="val 5685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634633"/>
            <a:ext cx="226814" cy="1814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74232" y="5602962"/>
            <a:ext cx="121355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LLM </a:t>
            </a: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Large Langage Model, est une IA capable de comprendre et générer du texte.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74232" y="6097310"/>
            <a:ext cx="1213556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RAG </a:t>
            </a:r>
            <a:r>
              <a:rPr lang="en-US" sz="14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Retrieval-Augmented Generation, est une technique combinant recherche d’informations et génération de texte pour améliorer les réponses d’un LLM.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14148261" y="7481454"/>
            <a:ext cx="3513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200" dirty="0">
                <a:latin typeface="Alexandria" panose="020B0604020202020204" charset="-78"/>
                <a:cs typeface="Alexandria" panose="020B0604020202020204" charset="-78"/>
              </a:rPr>
              <a:t>3</a:t>
            </a:r>
            <a:endParaRPr lang="fr-FR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158" y="2251591"/>
            <a:ext cx="6837164" cy="37262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241" y="619720"/>
            <a:ext cx="5740718" cy="1194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Explication des Systèmes de RAG</a:t>
            </a:r>
            <a:endParaRPr lang="en-US" sz="3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41" y="2101334"/>
            <a:ext cx="955953" cy="11471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29897" y="2292429"/>
            <a:ext cx="4498062" cy="611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Bases de connaissances externes, vectorielles et textuelles</a:t>
            </a:r>
            <a:endParaRPr lang="en-US" sz="15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41" y="3248501"/>
            <a:ext cx="955953" cy="1605677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029897" y="3439597"/>
            <a:ext cx="4498062" cy="1223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Lorsqu'un utilisateur pose une question, le système la convertit en un vecteur et cherche les documents les plus similaires dans la base de données vectorielle.</a:t>
            </a:r>
            <a:endParaRPr lang="en-US" sz="15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41" y="4854178"/>
            <a:ext cx="955953" cy="1299805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029897" y="5045273"/>
            <a:ext cx="4498062" cy="917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Les documents textuels sont ensuite utilisés pour générer une réponse précise et contextuellement appropriée.</a:t>
            </a:r>
            <a:endParaRPr lang="en-US" sz="1500" dirty="0"/>
          </a:p>
        </p:txBody>
      </p:sp>
      <p:sp>
        <p:nvSpPr>
          <p:cNvPr id="10" name="Shape 4"/>
          <p:cNvSpPr/>
          <p:nvPr/>
        </p:nvSpPr>
        <p:spPr>
          <a:xfrm>
            <a:off x="787241" y="6369010"/>
            <a:ext cx="5740718" cy="1240750"/>
          </a:xfrm>
          <a:prstGeom prst="roundRect">
            <a:avLst>
              <a:gd name="adj" fmla="val 6473"/>
            </a:avLst>
          </a:prstGeom>
          <a:solidFill>
            <a:srgbClr val="B6D6FC"/>
          </a:solidFill>
          <a:ln/>
        </p:spPr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337" y="6634043"/>
            <a:ext cx="191095" cy="15287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60527" y="6607850"/>
            <a:ext cx="4976336" cy="734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 modèle d'</a:t>
            </a:r>
            <a:r>
              <a:rPr lang="en-US" sz="120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embeddings</a:t>
            </a:r>
            <a:r>
              <a:rPr lang="en-US" sz="12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transforme du texte en vecteurs numériques pour en capturer le sens et faciliter son traitement par l’IA.</a:t>
            </a:r>
            <a:endParaRPr 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14131636" y="7481454"/>
            <a:ext cx="35298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200" dirty="0" smtClean="0">
                <a:latin typeface="Alexandria" panose="020B0604020202020204" charset="-78"/>
                <a:cs typeface="Alexandria" panose="020B0604020202020204" charset="-78"/>
              </a:rPr>
              <a:t>4</a:t>
            </a:r>
            <a:endParaRPr lang="fr-FR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95701"/>
            <a:ext cx="57276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Présentation du Chatbot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553420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347210"/>
            <a:ext cx="57276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Objectifs du Projet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93790" y="4846201"/>
            <a:ext cx="57276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Créer un chatbot capable de répondre à des questions à propos de Seatech.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93790" y="5708094"/>
            <a:ext cx="57276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Utiliser des informations provenant majoritairement du site internet de l'école.</a:t>
            </a:r>
            <a:endParaRPr lang="en-US" sz="1750" dirty="0"/>
          </a:p>
        </p:txBody>
      </p:sp>
      <p:sp>
        <p:nvSpPr>
          <p:cNvPr id="8" name="TextBox 7"/>
          <p:cNvSpPr txBox="1"/>
          <p:nvPr/>
        </p:nvSpPr>
        <p:spPr>
          <a:xfrm>
            <a:off x="14164886" y="7498079"/>
            <a:ext cx="35939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xandria" panose="020B0604020202020204" charset="-78"/>
                <a:cs typeface="Alexandria" panose="020B0604020202020204" charset="-78"/>
              </a:rPr>
              <a:t>5</a:t>
            </a:r>
            <a:endParaRPr lang="fr-FR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6445"/>
            <a:ext cx="61999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Technologies Utilisées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98852"/>
            <a:ext cx="3005495" cy="18574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339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API de Firecrawl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830253"/>
            <a:ext cx="30054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Webscrapping avec LLM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446" y="3198852"/>
            <a:ext cx="3005614" cy="18574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39446" y="5339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Backend en Python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39446" y="5830253"/>
            <a:ext cx="30056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Agents Langchain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5221" y="3198852"/>
            <a:ext cx="3005614" cy="18574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85221" y="5339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Site Web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85221" y="5830253"/>
            <a:ext cx="30056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HTML, CSS, JavaScript natif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0997" y="3198852"/>
            <a:ext cx="3005614" cy="18574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30997" y="53398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Serveur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830997" y="5830253"/>
            <a:ext cx="30056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Flask (local)</a:t>
            </a:r>
            <a:endParaRPr lang="en-US" sz="1750" dirty="0"/>
          </a:p>
        </p:txBody>
      </p:sp>
      <p:sp>
        <p:nvSpPr>
          <p:cNvPr id="15" name="TextBox 14"/>
          <p:cNvSpPr txBox="1"/>
          <p:nvPr/>
        </p:nvSpPr>
        <p:spPr>
          <a:xfrm>
            <a:off x="14115011" y="7481454"/>
            <a:ext cx="36420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200" dirty="0" smtClean="0">
                <a:latin typeface="Alexandria" panose="020B0604020202020204" charset="-78"/>
                <a:cs typeface="Alexandria" panose="020B0604020202020204" charset="-78"/>
              </a:rPr>
              <a:t>6</a:t>
            </a:r>
            <a:endParaRPr lang="fr-FR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928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Modèles Utilisés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79163"/>
            <a:ext cx="2445187" cy="15111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61711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Modèles Mistral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009430"/>
            <a:ext cx="305657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Open source ou avec l'API Groq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2539" y="1879163"/>
            <a:ext cx="2445187" cy="15111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2539" y="3617119"/>
            <a:ext cx="231898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Voyage Embeddings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122539" y="4009430"/>
            <a:ext cx="305657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Avec leur propre API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1288" y="1879163"/>
            <a:ext cx="2445187" cy="151114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1288" y="361711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API Openai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7451288" y="4009430"/>
            <a:ext cx="305657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Avec leur propre API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0038" y="1879163"/>
            <a:ext cx="2445187" cy="151114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0038" y="3617119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Modèles Deepseak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10780038" y="4009430"/>
            <a:ext cx="305657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Open source ou avec l'API Groq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1065967" y="4707850"/>
            <a:ext cx="60278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Modèles Open Source :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1065967" y="5161359"/>
            <a:ext cx="60278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Téléchargeables et modifiables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1065967" y="5515094"/>
            <a:ext cx="60278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Gratuits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065967" y="5868829"/>
            <a:ext cx="60278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Temps de calcul potentiellement élévé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93790" y="4707850"/>
            <a:ext cx="22860" cy="1451253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0" name="Text 14"/>
          <p:cNvSpPr/>
          <p:nvPr/>
        </p:nvSpPr>
        <p:spPr>
          <a:xfrm>
            <a:off x="7816334" y="4707850"/>
            <a:ext cx="60278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Modèles "propriétaires" :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816334" y="5161359"/>
            <a:ext cx="60278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Souvent soumis à des restrictions d’usage et de confidentialité.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816334" y="5515094"/>
            <a:ext cx="60278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Accès limité via une API payante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816334" y="5868829"/>
            <a:ext cx="60278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Réponses rapides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544157" y="4707850"/>
            <a:ext cx="22860" cy="1451253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5" name="Shape 19"/>
          <p:cNvSpPr/>
          <p:nvPr/>
        </p:nvSpPr>
        <p:spPr>
          <a:xfrm>
            <a:off x="793790" y="6567249"/>
            <a:ext cx="13042821" cy="712946"/>
          </a:xfrm>
          <a:prstGeom prst="roundRect">
            <a:avLst>
              <a:gd name="adj" fmla="val 10690"/>
            </a:avLst>
          </a:prstGeom>
          <a:solidFill>
            <a:srgbClr val="B6D6FC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241" y="6819424"/>
            <a:ext cx="181451" cy="14513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38143" y="6794063"/>
            <a:ext cx="1231701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Une API est une interface qui permet à différentes applications de communiquer et d'échanger des données entre elles.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14115011" y="7481454"/>
            <a:ext cx="34496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200" dirty="0">
                <a:latin typeface="Alexandria" panose="020B0604020202020204" charset="-78"/>
                <a:cs typeface="Alexandria" panose="020B0604020202020204" charset="-78"/>
              </a:rPr>
              <a:t>7</a:t>
            </a:r>
            <a:endParaRPr lang="fr-FR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2234"/>
            <a:ext cx="74200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Comparaison RAG vs LLMs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852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Chatbot by Seatech avec Mistral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03302"/>
            <a:ext cx="3978116" cy="2808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32928" y="19852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 Chat de Mistral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928" y="2603302"/>
            <a:ext cx="3978116" cy="36916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72067" y="198524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ChatGPT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2067" y="2603302"/>
            <a:ext cx="3978116" cy="46389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115011" y="7481454"/>
            <a:ext cx="3626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200" dirty="0">
                <a:latin typeface="Alexandria" panose="020B0604020202020204" charset="-78"/>
                <a:cs typeface="Alexandria" panose="020B0604020202020204" charset="-78"/>
              </a:rPr>
              <a:t>8</a:t>
            </a:r>
            <a:endParaRPr lang="fr-FR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4616"/>
            <a:ext cx="740925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Le Chat by Seatech Multingue !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843087"/>
            <a:ext cx="5343287" cy="39066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966579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En anglais</a:t>
            </a:r>
            <a:endParaRPr lang="en-US" sz="2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968" y="2346603"/>
            <a:ext cx="5343287" cy="24176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57968" y="4981099"/>
            <a:ext cx="318027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22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Et même en Espagnol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7557968" y="5535335"/>
            <a:ext cx="628626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93790" y="6737628"/>
            <a:ext cx="13042821" cy="757357"/>
          </a:xfrm>
          <a:prstGeom prst="roundRect">
            <a:avLst>
              <a:gd name="adj" fmla="val 10692"/>
            </a:avLst>
          </a:prstGeom>
          <a:solidFill>
            <a:srgbClr val="B5FCB8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552" y="7003494"/>
            <a:ext cx="192762" cy="15418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2076" y="6978491"/>
            <a:ext cx="12271772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Idéal pour les étudiants ou futur étudiants ERASMUS !</a:t>
            </a:r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4115011" y="7481454"/>
            <a:ext cx="36260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200" dirty="0" smtClean="0">
                <a:latin typeface="Alexandria" panose="020B0604020202020204" charset="-78"/>
                <a:cs typeface="Alexandria" panose="020B0604020202020204" charset="-78"/>
              </a:rPr>
              <a:t>9</a:t>
            </a:r>
            <a:endParaRPr lang="fr-FR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703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Autres Aspects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32760"/>
            <a:ext cx="6408063" cy="2277547"/>
          </a:xfrm>
          <a:prstGeom prst="roundRect">
            <a:avLst>
              <a:gd name="adj" fmla="val 418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26719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Feedbacks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028224" y="3828574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 de l'application avec des élèves de l'école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667" y="3032760"/>
            <a:ext cx="6408063" cy="2277547"/>
          </a:xfrm>
          <a:prstGeom prst="roundRect">
            <a:avLst>
              <a:gd name="adj" fmla="val 4183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63101" y="3267194"/>
            <a:ext cx="353949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300"/>
              </a:lnSpc>
              <a:buNone/>
            </a:pPr>
            <a:r>
              <a:rPr lang="en-US" sz="26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Pistes d'amélioration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663101" y="3828574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Enrichir la base de données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63101" y="427077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Intégrer le chatbot au site internet de l'école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663101" y="4712970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Ajouter des capacités de réflexion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6504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endParaRPr lang="en-US" sz="4450" dirty="0"/>
          </a:p>
        </p:txBody>
      </p:sp>
      <p:sp>
        <p:nvSpPr>
          <p:cNvPr id="12" name="TextBox 11"/>
          <p:cNvSpPr txBox="1"/>
          <p:nvPr/>
        </p:nvSpPr>
        <p:spPr>
          <a:xfrm>
            <a:off x="14031886" y="7481454"/>
            <a:ext cx="4892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200" dirty="0" smtClean="0">
                <a:latin typeface="Alexandria" panose="020B0604020202020204" charset="-78"/>
                <a:cs typeface="Alexandria" panose="020B0604020202020204" charset="-78"/>
              </a:rPr>
              <a:t>10</a:t>
            </a:r>
            <a:endParaRPr lang="fr-FR" sz="2200" dirty="0">
              <a:latin typeface="Alexandria" panose="020B0604020202020204" charset="-78"/>
              <a:cs typeface="Alexandria" panose="020B0604020202020204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869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91032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17439" y="3491032"/>
            <a:ext cx="28504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Chatbot Performant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17439" y="3981450"/>
            <a:ext cx="69327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Développement réussi grâce à la technologie RAG.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826318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17439" y="48263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Perfectionnement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17439" y="5316736"/>
            <a:ext cx="693277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Opportunité saisie dans le domaine des LLM et des systèmes de RAG.</a:t>
            </a:r>
            <a:endParaRPr lang="en-US" sz="1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6407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 smtClean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Annexes</a:t>
            </a:r>
            <a:endParaRPr lang="en-US" sz="445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90" y="1454116"/>
            <a:ext cx="11543011" cy="5759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3790" y="7384215"/>
            <a:ext cx="12803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lexandria" panose="020B0604020202020204" charset="-78"/>
                <a:cs typeface="Alexandria" panose="020B0604020202020204" charset="-78"/>
              </a:rPr>
              <a:t>Source : https</a:t>
            </a:r>
            <a:r>
              <a:rPr lang="fr-FR" dirty="0">
                <a:solidFill>
                  <a:schemeClr val="tx1">
                    <a:lumMod val="50000"/>
                    <a:lumOff val="50000"/>
                  </a:schemeClr>
                </a:solidFill>
                <a:latin typeface="Alexandria" panose="020B0604020202020204" charset="-78"/>
                <a:cs typeface="Alexandria" panose="020B0604020202020204" charset="-78"/>
              </a:rPr>
              <a:t>://developers.google.com/machine-learning/clustering/dnn-clustering/supervised-similarity?hl=fr</a:t>
            </a:r>
          </a:p>
        </p:txBody>
      </p:sp>
    </p:spTree>
    <p:extLst>
      <p:ext uri="{BB962C8B-B14F-4D97-AF65-F5344CB8AC3E}">
        <p14:creationId xmlns:p14="http://schemas.microsoft.com/office/powerpoint/2010/main" val="1953446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493</Words>
  <Application>Microsoft Office PowerPoint</Application>
  <PresentationFormat>Custom</PresentationFormat>
  <Paragraphs>108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Nobile</vt:lpstr>
      <vt:lpstr>Alexandria</vt:lpstr>
      <vt:lpstr>Calibri</vt:lpstr>
      <vt:lpstr>Arial</vt:lpstr>
      <vt:lpstr>Nobile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Binec</cp:lastModifiedBy>
  <cp:revision>6</cp:revision>
  <dcterms:created xsi:type="dcterms:W3CDTF">2025-02-26T22:51:02Z</dcterms:created>
  <dcterms:modified xsi:type="dcterms:W3CDTF">2025-02-27T19:53:47Z</dcterms:modified>
</cp:coreProperties>
</file>